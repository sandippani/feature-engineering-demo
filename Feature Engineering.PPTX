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4" r:id="rId3"/>
    <p:sldId id="275" r:id="rId4"/>
    <p:sldId id="276" r:id="rId5"/>
    <p:sldId id="298" r:id="rId6"/>
    <p:sldId id="297" r:id="rId7"/>
    <p:sldId id="296" r:id="rId8"/>
    <p:sldId id="287" r:id="rId9"/>
    <p:sldId id="299" r:id="rId10"/>
    <p:sldId id="300" r:id="rId11"/>
    <p:sldId id="303" r:id="rId12"/>
    <p:sldId id="302" r:id="rId13"/>
    <p:sldId id="304" r:id="rId14"/>
    <p:sldId id="305" r:id="rId15"/>
    <p:sldId id="306" r:id="rId16"/>
    <p:sldId id="292" r:id="rId17"/>
    <p:sldId id="266" r:id="rId18"/>
    <p:sldId id="284" r:id="rId19"/>
    <p:sldId id="271" r:id="rId20"/>
    <p:sldId id="270" r:id="rId21"/>
    <p:sldId id="269" r:id="rId22"/>
    <p:sldId id="286" r:id="rId23"/>
    <p:sldId id="264" r:id="rId24"/>
  </p:sldIdLst>
  <p:sldSz cx="12184063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3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50C5E5-5242-4331-BB68-8ED6AF24617E}" v="1" dt="2018-09-14T05:00:57.7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814" autoAdjust="0"/>
    <p:restoredTop sz="96659" autoAdjust="0"/>
  </p:normalViewPr>
  <p:slideViewPr>
    <p:cSldViewPr>
      <p:cViewPr varScale="1">
        <p:scale>
          <a:sx n="87" d="100"/>
          <a:sy n="87" d="100"/>
        </p:scale>
        <p:origin x="950" y="58"/>
      </p:cViewPr>
      <p:guideLst>
        <p:guide orient="horz" pos="2160"/>
        <p:guide pos="383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C850C5E5-5242-4331-BB68-8ED6AF24617E}"/>
    <pc:docChg chg="modSld">
      <pc:chgData name="Guest User" userId="" providerId="Windows Live" clId="Web-{C850C5E5-5242-4331-BB68-8ED6AF24617E}" dt="2018-09-14T05:03:29.990" v="39" actId="20577"/>
      <pc:docMkLst>
        <pc:docMk/>
      </pc:docMkLst>
      <pc:sldChg chg="modSp">
        <pc:chgData name="Guest User" userId="" providerId="Windows Live" clId="Web-{C850C5E5-5242-4331-BB68-8ED6AF24617E}" dt="2018-09-14T05:03:29.990" v="38" actId="20577"/>
        <pc:sldMkLst>
          <pc:docMk/>
          <pc:sldMk cId="0" sldId="264"/>
        </pc:sldMkLst>
        <pc:spChg chg="mod">
          <ac:chgData name="Guest User" userId="" providerId="Windows Live" clId="Web-{C850C5E5-5242-4331-BB68-8ED6AF24617E}" dt="2018-09-14T05:03:29.990" v="38" actId="20577"/>
          <ac:spMkLst>
            <pc:docMk/>
            <pc:sldMk cId="0" sldId="264"/>
            <ac:spMk id="2" creationId="{00000000-0000-0000-0000-000000000000}"/>
          </ac:spMkLst>
        </pc:spChg>
        <pc:spChg chg="mod">
          <ac:chgData name="Guest User" userId="" providerId="Windows Live" clId="Web-{C850C5E5-5242-4331-BB68-8ED6AF24617E}" dt="2018-09-14T05:02:55.771" v="23" actId="20577"/>
          <ac:spMkLst>
            <pc:docMk/>
            <pc:sldMk cId="0" sldId="264"/>
            <ac:spMk id="7" creationId="{45733B3A-4D9F-4446-BCE4-9B43BB343FCD}"/>
          </ac:spMkLst>
        </pc:spChg>
      </pc:sldChg>
      <pc:sldChg chg="addSp delSp modSp">
        <pc:chgData name="Guest User" userId="" providerId="Windows Live" clId="Web-{C850C5E5-5242-4331-BB68-8ED6AF24617E}" dt="2018-09-14T05:01:35.051" v="15" actId="1076"/>
        <pc:sldMkLst>
          <pc:docMk/>
          <pc:sldMk cId="1634922995" sldId="269"/>
        </pc:sldMkLst>
        <pc:spChg chg="del">
          <ac:chgData name="Guest User" userId="" providerId="Windows Live" clId="Web-{C850C5E5-5242-4331-BB68-8ED6AF24617E}" dt="2018-09-14T04:58:50.549" v="1" actId="1076"/>
          <ac:spMkLst>
            <pc:docMk/>
            <pc:sldMk cId="1634922995" sldId="269"/>
            <ac:spMk id="3" creationId="{00000000-0000-0000-0000-000000000000}"/>
          </ac:spMkLst>
        </pc:spChg>
        <pc:spChg chg="add del mod">
          <ac:chgData name="Guest User" userId="" providerId="Windows Live" clId="Web-{C850C5E5-5242-4331-BB68-8ED6AF24617E}" dt="2018-09-14T04:58:59.658" v="4" actId="1076"/>
          <ac:spMkLst>
            <pc:docMk/>
            <pc:sldMk cId="1634922995" sldId="269"/>
            <ac:spMk id="8" creationId="{DC7A6DA9-B684-44C0-A4D8-AADA9CA30091}"/>
          </ac:spMkLst>
        </pc:spChg>
        <pc:spChg chg="add del mod">
          <ac:chgData name="Guest User" userId="" providerId="Windows Live" clId="Web-{C850C5E5-5242-4331-BB68-8ED6AF24617E}" dt="2018-09-14T05:00:55.301" v="11" actId="1076"/>
          <ac:spMkLst>
            <pc:docMk/>
            <pc:sldMk cId="1634922995" sldId="269"/>
            <ac:spMk id="12" creationId="{009BBF09-1735-4947-B68A-7196EC03FA9A}"/>
          </ac:spMkLst>
        </pc:spChg>
        <pc:picChg chg="del mod">
          <ac:chgData name="Guest User" userId="" providerId="Windows Live" clId="Web-{C850C5E5-5242-4331-BB68-8ED6AF24617E}" dt="2018-09-14T04:58:54.065" v="3" actId="1076"/>
          <ac:picMkLst>
            <pc:docMk/>
            <pc:sldMk cId="1634922995" sldId="269"/>
            <ac:picMk id="4" creationId="{DA2F7299-A104-4C48-A2FF-314EE9BCFDEA}"/>
          </ac:picMkLst>
        </pc:picChg>
        <pc:picChg chg="add del mod ord">
          <ac:chgData name="Guest User" userId="" providerId="Windows Live" clId="Web-{C850C5E5-5242-4331-BB68-8ED6AF24617E}" dt="2018-09-14T04:58:52.299" v="2" actId="1076"/>
          <ac:picMkLst>
            <pc:docMk/>
            <pc:sldMk cId="1634922995" sldId="269"/>
            <ac:picMk id="5" creationId="{8D9FF6CC-1916-4DE0-B39A-AE3D2AB53DF2}"/>
          </ac:picMkLst>
        </pc:picChg>
        <pc:picChg chg="add del mod ord">
          <ac:chgData name="Guest User" userId="" providerId="Windows Live" clId="Web-{C850C5E5-5242-4331-BB68-8ED6AF24617E}" dt="2018-09-14T05:01:03.301" v="13" actId="1076"/>
          <ac:picMkLst>
            <pc:docMk/>
            <pc:sldMk cId="1634922995" sldId="269"/>
            <ac:picMk id="9" creationId="{F8E9C4A3-56D1-448C-8C11-0F41CAC2E133}"/>
          </ac:picMkLst>
        </pc:picChg>
        <pc:picChg chg="add del mod ord">
          <ac:chgData name="Guest User" userId="" providerId="Windows Live" clId="Web-{C850C5E5-5242-4331-BB68-8ED6AF24617E}" dt="2018-09-14T05:00:52.050" v="10" actId="1076"/>
          <ac:picMkLst>
            <pc:docMk/>
            <pc:sldMk cId="1634922995" sldId="269"/>
            <ac:picMk id="13" creationId="{E2F205C9-7EA9-42BA-B045-6FE821C85512}"/>
          </ac:picMkLst>
        </pc:picChg>
        <pc:picChg chg="add mod">
          <ac:chgData name="Guest User" userId="" providerId="Windows Live" clId="Web-{C850C5E5-5242-4331-BB68-8ED6AF24617E}" dt="2018-09-14T05:01:35.051" v="15" actId="1076"/>
          <ac:picMkLst>
            <pc:docMk/>
            <pc:sldMk cId="1634922995" sldId="269"/>
            <ac:picMk id="15" creationId="{B4D7E348-B960-4E6E-A479-2713313AF454}"/>
          </ac:picMkLst>
        </pc:picChg>
      </pc:sldChg>
      <pc:sldChg chg="addSp delSp modSp">
        <pc:chgData name="Guest User" userId="" providerId="Windows Live" clId="Web-{C850C5E5-5242-4331-BB68-8ED6AF24617E}" dt="2018-09-14T05:02:13.442" v="17" actId="20577"/>
        <pc:sldMkLst>
          <pc:docMk/>
          <pc:sldMk cId="3051867205" sldId="286"/>
        </pc:sldMkLst>
        <pc:spChg chg="del">
          <ac:chgData name="Guest User" userId="" providerId="Windows Live" clId="Web-{C850C5E5-5242-4331-BB68-8ED6AF24617E}" dt="2018-09-14T05:02:11.458" v="16" actId="20577"/>
          <ac:spMkLst>
            <pc:docMk/>
            <pc:sldMk cId="3051867205" sldId="286"/>
            <ac:spMk id="3" creationId="{00000000-0000-0000-0000-000000000000}"/>
          </ac:spMkLst>
        </pc:spChg>
        <pc:spChg chg="add del mod">
          <ac:chgData name="Guest User" userId="" providerId="Windows Live" clId="Web-{C850C5E5-5242-4331-BB68-8ED6AF24617E}" dt="2018-09-14T05:02:13.442" v="17" actId="20577"/>
          <ac:spMkLst>
            <pc:docMk/>
            <pc:sldMk cId="3051867205" sldId="286"/>
            <ac:spMk id="5" creationId="{BD0E46C4-966F-4B9A-97EC-FE5C805F4DDA}"/>
          </ac:spMkLst>
        </pc:spChg>
        <pc:picChg chg="add mod ord">
          <ac:chgData name="Guest User" userId="" providerId="Windows Live" clId="Web-{C850C5E5-5242-4331-BB68-8ED6AF24617E}" dt="2018-09-14T05:02:13.442" v="17" actId="20577"/>
          <ac:picMkLst>
            <pc:docMk/>
            <pc:sldMk cId="3051867205" sldId="286"/>
            <ac:picMk id="6" creationId="{65D82EA9-47EB-4996-9105-00472D48078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mailto:admin@DataPlatformGeeks.com?subject=Message%20from%20DPG%20Member" TargetMode="External"/><Relationship Id="rId7" Type="http://schemas.openxmlformats.org/officeDocument/2006/relationships/image" Target="../media/image3.png"/><Relationship Id="rId2" Type="http://schemas.openxmlformats.org/officeDocument/2006/relationships/hyperlink" Target="http://www.twitter.com/SQLServerGeeks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hyperlink" Target="http://www.sqlservergeeks.com/" TargetMode="External"/><Relationship Id="rId4" Type="http://schemas.openxmlformats.org/officeDocument/2006/relationships/hyperlink" Target="http://www.dataplatformgeeks.com/" TargetMode="Externa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7710239" y="5500702"/>
            <a:ext cx="4473824" cy="13572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80712" y="285729"/>
            <a:ext cx="6377640" cy="1928825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0712" y="2357430"/>
            <a:ext cx="6377640" cy="1143008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IN" dirty="0"/>
          </a:p>
        </p:txBody>
      </p:sp>
      <p:sp>
        <p:nvSpPr>
          <p:cNvPr id="9" name="TextBox 8"/>
          <p:cNvSpPr txBox="1"/>
          <p:nvPr userDrawn="1"/>
        </p:nvSpPr>
        <p:spPr>
          <a:xfrm>
            <a:off x="380712" y="6429396"/>
            <a:ext cx="4305153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Segoe UI" pitchFamily="34" charset="0"/>
                <a:ea typeface="Segoe UI" pitchFamily="34" charset="0"/>
                <a:cs typeface="Segoe UI" pitchFamily="34" charset="0"/>
                <a:hlinkClick r:id="rId2"/>
              </a:rPr>
              <a:t>@SQLServerGeeks</a:t>
            </a:r>
            <a:r>
              <a:rPr lang="en-US" sz="1350" dirty="0">
                <a:latin typeface="Segoe UI" pitchFamily="34" charset="0"/>
                <a:ea typeface="Segoe UI" pitchFamily="34" charset="0"/>
                <a:cs typeface="Segoe UI" pitchFamily="34" charset="0"/>
              </a:rPr>
              <a:t>  |  </a:t>
            </a:r>
            <a:r>
              <a:rPr lang="en-US" sz="1350" dirty="0">
                <a:latin typeface="Segoe UI" pitchFamily="34" charset="0"/>
                <a:ea typeface="Segoe UI" pitchFamily="34" charset="0"/>
                <a:cs typeface="Segoe UI" pitchFamily="34" charset="0"/>
                <a:hlinkClick r:id="rId3"/>
              </a:rPr>
              <a:t>admin@DataPlatformGeeks.com</a:t>
            </a:r>
            <a:endParaRPr lang="en-IN" sz="1350" dirty="0"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0" name="TextBox 9"/>
          <p:cNvSpPr txBox="1"/>
          <p:nvPr userDrawn="1"/>
        </p:nvSpPr>
        <p:spPr>
          <a:xfrm>
            <a:off x="380712" y="5879269"/>
            <a:ext cx="7019550" cy="3924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50" b="0" i="0" kern="1200" dirty="0">
                <a:solidFill>
                  <a:schemeClr val="tx1"/>
                </a:solidFill>
                <a:effectLst/>
                <a:latin typeface="Narkisim" pitchFamily="34" charset="-79"/>
                <a:ea typeface="+mn-ea"/>
                <a:cs typeface="Narkisim" pitchFamily="34" charset="-79"/>
                <a:hlinkClick r:id="rId4"/>
              </a:rPr>
              <a:t>www.DataPlatformGeeks.com</a:t>
            </a:r>
            <a:r>
              <a:rPr lang="en-US" sz="1950" b="0" i="0" kern="1200" dirty="0">
                <a:solidFill>
                  <a:schemeClr val="tx1"/>
                </a:solidFill>
                <a:effectLst/>
                <a:latin typeface="Narkisim" pitchFamily="34" charset="-79"/>
                <a:ea typeface="+mn-ea"/>
                <a:cs typeface="Narkisim" pitchFamily="34" charset="-79"/>
              </a:rPr>
              <a:t>  |  </a:t>
            </a:r>
            <a:r>
              <a:rPr lang="en-US" sz="1950" b="0" i="0" kern="1200" dirty="0">
                <a:solidFill>
                  <a:schemeClr val="tx1"/>
                </a:solidFill>
                <a:effectLst/>
                <a:latin typeface="Narkisim" pitchFamily="34" charset="-79"/>
                <a:ea typeface="+mn-ea"/>
                <a:cs typeface="Narkisim" pitchFamily="34" charset="-79"/>
                <a:hlinkClick r:id="rId5"/>
              </a:rPr>
              <a:t>www.SQLServerGeeks.com</a:t>
            </a:r>
            <a:r>
              <a:rPr lang="en-US" sz="1950" b="0" i="0" kern="1200" dirty="0">
                <a:solidFill>
                  <a:schemeClr val="tx1"/>
                </a:solidFill>
                <a:effectLst/>
                <a:latin typeface="Narkisim" pitchFamily="34" charset="-79"/>
                <a:ea typeface="+mn-ea"/>
                <a:cs typeface="Narkisim" pitchFamily="34" charset="-79"/>
              </a:rPr>
              <a:t> </a:t>
            </a:r>
            <a:endParaRPr lang="en-IN" sz="1950" b="0" dirty="0">
              <a:latin typeface="Narkisim" pitchFamily="34" charset="-79"/>
              <a:ea typeface="Segoe UI" pitchFamily="34" charset="0"/>
              <a:cs typeface="Narkisim" pitchFamily="34" charset="-79"/>
            </a:endParaRPr>
          </a:p>
        </p:txBody>
      </p:sp>
      <p:cxnSp>
        <p:nvCxnSpPr>
          <p:cNvPr id="13" name="Straight Connector 12"/>
          <p:cNvCxnSpPr>
            <a:cxnSpLocks/>
          </p:cNvCxnSpPr>
          <p:nvPr userDrawn="1"/>
        </p:nvCxnSpPr>
        <p:spPr>
          <a:xfrm>
            <a:off x="475901" y="6357958"/>
            <a:ext cx="6853583" cy="15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C:\Users\user_1\Desktop\12.png"/>
          <p:cNvPicPr>
            <a:picLocks noChangeAspect="1" noChangeArrowheads="1"/>
          </p:cNvPicPr>
          <p:nvPr userDrawn="1"/>
        </p:nvPicPr>
        <p:blipFill>
          <a:blip r:embed="rId6" cstate="print"/>
          <a:srcRect r="77"/>
          <a:stretch>
            <a:fillRect/>
          </a:stretch>
        </p:blipFill>
        <p:spPr bwMode="auto">
          <a:xfrm>
            <a:off x="7183403" y="-331"/>
            <a:ext cx="5000660" cy="6858331"/>
          </a:xfrm>
          <a:prstGeom prst="rect">
            <a:avLst/>
          </a:prstGeom>
          <a:noFill/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CDBBB18-2A8F-429E-9136-6D77330DDBC6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124" y="5201529"/>
            <a:ext cx="3376651" cy="626593"/>
          </a:xfrm>
          <a:prstGeom prst="rect">
            <a:avLst/>
          </a:prstGeom>
        </p:spPr>
      </p:pic>
      <p:pic>
        <p:nvPicPr>
          <p:cNvPr id="14" name="Picture 2" descr="https://cdn1.iconfinder.com/data/icons/iconza-circle-social/64/697029-twitter-512.png">
            <a:extLst>
              <a:ext uri="{FF2B5EF4-FFF2-40B4-BE49-F238E27FC236}">
                <a16:creationId xmlns:a16="http://schemas.microsoft.com/office/drawing/2014/main" id="{A5429F9F-6B5A-4E42-B6CE-7F38C1DE016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1551" y="6277707"/>
            <a:ext cx="303377" cy="303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ding conten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203" y="1600201"/>
            <a:ext cx="10908582" cy="4525963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49" charset="0"/>
                <a:cs typeface="Consolas" pitchFamily="49" charset="0"/>
              </a:defRPr>
            </a:lvl1pPr>
            <a:lvl2pPr>
              <a:defRPr sz="200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49" charset="0"/>
                <a:cs typeface="Consolas" pitchFamily="49" charset="0"/>
              </a:defRPr>
            </a:lvl2pPr>
            <a:lvl3pPr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49" charset="0"/>
                <a:cs typeface="Consolas" pitchFamily="49" charset="0"/>
              </a:defRPr>
            </a:lvl3pPr>
            <a:lvl4pPr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49" charset="0"/>
                <a:cs typeface="Consolas" pitchFamily="49" charset="0"/>
              </a:defRPr>
            </a:lvl4pPr>
            <a:lvl5pPr>
              <a:defRPr sz="160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49" charset="0"/>
                <a:cs typeface="Consolas" pitchFamily="49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2_Section Header"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2457" y="1142985"/>
            <a:ext cx="10356454" cy="1362075"/>
          </a:xfrm>
        </p:spPr>
        <p:txBody>
          <a:bodyPr anchor="b"/>
          <a:lstStyle>
            <a:lvl1pPr algn="l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2457" y="2500307"/>
            <a:ext cx="10356454" cy="1500187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2457" y="1142985"/>
            <a:ext cx="10356454" cy="1362075"/>
          </a:xfrm>
        </p:spPr>
        <p:txBody>
          <a:bodyPr anchor="b"/>
          <a:lstStyle>
            <a:lvl1pPr algn="l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2457" y="2500307"/>
            <a:ext cx="10356454" cy="1500187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3_Section Header">
    <p:bg>
      <p:bgPr>
        <a:solidFill>
          <a:srgbClr val="0070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2457" y="1142985"/>
            <a:ext cx="10356454" cy="1362075"/>
          </a:xfrm>
        </p:spPr>
        <p:txBody>
          <a:bodyPr anchor="b"/>
          <a:lstStyle>
            <a:lvl1pPr algn="l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2457" y="2500307"/>
            <a:ext cx="10356454" cy="1500187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:\Users\user_1\Desktop\44.png"/>
          <p:cNvPicPr>
            <a:picLocks noChangeAspect="1" noChangeArrowheads="1"/>
          </p:cNvPicPr>
          <p:nvPr userDrawn="1"/>
        </p:nvPicPr>
        <p:blipFill>
          <a:blip r:embed="rId2" cstate="print"/>
          <a:srcRect l="21503"/>
          <a:stretch>
            <a:fillRect/>
          </a:stretch>
        </p:blipFill>
        <p:spPr bwMode="auto">
          <a:xfrm>
            <a:off x="0" y="642919"/>
            <a:ext cx="4695138" cy="2348459"/>
          </a:xfrm>
          <a:prstGeom prst="rect">
            <a:avLst/>
          </a:prstGeom>
          <a:noFill/>
        </p:spPr>
      </p:pic>
      <p:sp>
        <p:nvSpPr>
          <p:cNvPr id="5" name="Rounded Rectangle 4"/>
          <p:cNvSpPr/>
          <p:nvPr userDrawn="1"/>
        </p:nvSpPr>
        <p:spPr>
          <a:xfrm>
            <a:off x="3617126" y="1285860"/>
            <a:ext cx="7234338" cy="4643470"/>
          </a:xfrm>
          <a:prstGeom prst="roundRect">
            <a:avLst>
              <a:gd name="adj" fmla="val 7675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3807504" y="1428737"/>
            <a:ext cx="6853583" cy="1362075"/>
          </a:xfrm>
        </p:spPr>
        <p:txBody>
          <a:bodyPr anchor="b"/>
          <a:lstStyle>
            <a:lvl1pPr algn="l">
              <a:defRPr sz="4000" b="1" cap="none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807504" y="2928935"/>
            <a:ext cx="6853583" cy="1500187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948495" y="2928934"/>
            <a:ext cx="15808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latin typeface="Segoe UI" pitchFamily="34" charset="0"/>
                <a:ea typeface="Segoe UI" pitchFamily="34" charset="0"/>
                <a:cs typeface="Segoe UI" pitchFamily="34" charset="0"/>
              </a:rPr>
              <a:t>Video</a:t>
            </a:r>
            <a:endParaRPr lang="en-IN" sz="4000" b="1" dirty="0"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ection Header">
    <p:bg>
      <p:bgPr>
        <a:solidFill>
          <a:schemeClr val="accent3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 descr="C:\Users\user_1\Desktop\55.png"/>
          <p:cNvPicPr>
            <a:picLocks noChangeAspect="1" noChangeArrowheads="1"/>
          </p:cNvPicPr>
          <p:nvPr userDrawn="1"/>
        </p:nvPicPr>
        <p:blipFill>
          <a:blip r:embed="rId2" cstate="print"/>
          <a:srcRect l="21503"/>
          <a:stretch>
            <a:fillRect/>
          </a:stretch>
        </p:blipFill>
        <p:spPr bwMode="auto">
          <a:xfrm>
            <a:off x="1" y="642919"/>
            <a:ext cx="4695138" cy="2348459"/>
          </a:xfrm>
          <a:prstGeom prst="rect">
            <a:avLst/>
          </a:prstGeom>
          <a:noFill/>
        </p:spPr>
      </p:pic>
      <p:sp>
        <p:nvSpPr>
          <p:cNvPr id="5" name="Rounded Rectangle 4"/>
          <p:cNvSpPr/>
          <p:nvPr userDrawn="1"/>
        </p:nvSpPr>
        <p:spPr>
          <a:xfrm>
            <a:off x="3617126" y="1285860"/>
            <a:ext cx="7234338" cy="4643470"/>
          </a:xfrm>
          <a:prstGeom prst="roundRect">
            <a:avLst>
              <a:gd name="adj" fmla="val 7675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3807504" y="1428737"/>
            <a:ext cx="6853583" cy="1362075"/>
          </a:xfrm>
        </p:spPr>
        <p:txBody>
          <a:bodyPr anchor="b"/>
          <a:lstStyle>
            <a:lvl1pPr algn="l">
              <a:defRPr sz="4000" b="1" cap="none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807504" y="2928935"/>
            <a:ext cx="6853583" cy="1500187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877057" y="2928934"/>
            <a:ext cx="16241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latin typeface="Segoe UI" pitchFamily="34" charset="0"/>
                <a:ea typeface="Segoe UI" pitchFamily="34" charset="0"/>
                <a:cs typeface="Segoe UI" pitchFamily="34" charset="0"/>
              </a:rPr>
              <a:t>Demo</a:t>
            </a:r>
            <a:endParaRPr lang="en-IN" sz="4000" b="1" dirty="0"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203" y="1600201"/>
            <a:ext cx="5381294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3566" y="1600201"/>
            <a:ext cx="5381294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203" y="1535113"/>
            <a:ext cx="538341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203" y="2174875"/>
            <a:ext cx="538341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9335" y="1535113"/>
            <a:ext cx="538552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9335" y="2174875"/>
            <a:ext cx="538552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204" y="273050"/>
            <a:ext cx="400847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3630" y="273051"/>
            <a:ext cx="681123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204" y="1435101"/>
            <a:ext cx="400847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8162" y="4800600"/>
            <a:ext cx="7310438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8162" y="612775"/>
            <a:ext cx="7310438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8162" y="5367338"/>
            <a:ext cx="7310438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3446" y="274639"/>
            <a:ext cx="2741414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203" y="274639"/>
            <a:ext cx="8021175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5591965" y="3786190"/>
            <a:ext cx="6592098" cy="30718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/>
          <p:cNvSpPr/>
          <p:nvPr userDrawn="1"/>
        </p:nvSpPr>
        <p:spPr>
          <a:xfrm>
            <a:off x="8969386" y="4214819"/>
            <a:ext cx="3214678" cy="26431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8" name="Picture 2" descr="C:\Users\user_1\Desktop\66.png"/>
          <p:cNvPicPr>
            <a:picLocks noChangeAspect="1" noChangeArrowheads="1"/>
          </p:cNvPicPr>
          <p:nvPr userDrawn="1"/>
        </p:nvPicPr>
        <p:blipFill>
          <a:blip r:embed="rId2" cstate="screen"/>
          <a:srcRect r="44118"/>
          <a:stretch>
            <a:fillRect/>
          </a:stretch>
        </p:blipFill>
        <p:spPr bwMode="auto">
          <a:xfrm rot="5400000">
            <a:off x="7102606" y="1776543"/>
            <a:ext cx="3786190" cy="6376725"/>
          </a:xfrm>
          <a:prstGeom prst="rect">
            <a:avLst/>
          </a:prstGeom>
          <a:noFill/>
        </p:spPr>
      </p:pic>
      <p:sp>
        <p:nvSpPr>
          <p:cNvPr id="9" name="TextBox 8"/>
          <p:cNvSpPr txBox="1"/>
          <p:nvPr userDrawn="1"/>
        </p:nvSpPr>
        <p:spPr>
          <a:xfrm>
            <a:off x="428596" y="428604"/>
            <a:ext cx="84296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000" b="1" dirty="0">
                <a:solidFill>
                  <a:schemeClr val="accent1"/>
                </a:solidFill>
              </a:rPr>
              <a:t>A Big Thanks to Our Sponsors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5591965" y="3786190"/>
            <a:ext cx="6592098" cy="30718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074" name="Picture 2" descr="C:\Users\user_1\Desktop\66.png"/>
          <p:cNvPicPr>
            <a:picLocks noChangeAspect="1" noChangeArrowheads="1"/>
          </p:cNvPicPr>
          <p:nvPr userDrawn="1"/>
        </p:nvPicPr>
        <p:blipFill>
          <a:blip r:embed="rId2" cstate="screen"/>
          <a:srcRect b="18602"/>
          <a:stretch>
            <a:fillRect/>
          </a:stretch>
        </p:blipFill>
        <p:spPr bwMode="auto">
          <a:xfrm>
            <a:off x="3234511" y="-1"/>
            <a:ext cx="8949553" cy="6858001"/>
          </a:xfrm>
          <a:prstGeom prst="rect">
            <a:avLst/>
          </a:prstGeom>
          <a:noFill/>
        </p:spPr>
      </p:pic>
      <p:sp>
        <p:nvSpPr>
          <p:cNvPr id="10" name="TextBox 9"/>
          <p:cNvSpPr txBox="1"/>
          <p:nvPr userDrawn="1"/>
        </p:nvSpPr>
        <p:spPr>
          <a:xfrm>
            <a:off x="430238" y="620688"/>
            <a:ext cx="3883884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chemeClr val="accent1"/>
                </a:solidFill>
              </a:rPr>
              <a:t>Thank you </a:t>
            </a:r>
          </a:p>
          <a:p>
            <a:r>
              <a:rPr lang="en-US" sz="5000" b="1" dirty="0">
                <a:solidFill>
                  <a:schemeClr val="accent1"/>
                </a:solidFill>
              </a:rPr>
              <a:t>for your time!</a:t>
            </a:r>
            <a:endParaRPr lang="en-IN" sz="5000" b="1"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user_1\Desktop\33.png"/>
          <p:cNvPicPr>
            <a:picLocks noChangeAspect="1" noChangeArrowheads="1"/>
          </p:cNvPicPr>
          <p:nvPr userDrawn="1"/>
        </p:nvPicPr>
        <p:blipFill>
          <a:blip r:embed="rId20" cstate="print"/>
          <a:stretch>
            <a:fillRect/>
          </a:stretch>
        </p:blipFill>
        <p:spPr bwMode="auto">
          <a:xfrm>
            <a:off x="9120675" y="5556251"/>
            <a:ext cx="3063388" cy="1301005"/>
          </a:xfrm>
          <a:prstGeom prst="rect">
            <a:avLst/>
          </a:prstGeom>
          <a:noFill/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203" y="274638"/>
            <a:ext cx="1100377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203" y="1600201"/>
            <a:ext cx="10965657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3" r:id="rId3"/>
    <p:sldLayoutId id="2147483661" r:id="rId4"/>
    <p:sldLayoutId id="2147483660" r:id="rId5"/>
    <p:sldLayoutId id="2147483662" r:id="rId6"/>
    <p:sldLayoutId id="2147483651" r:id="rId7"/>
    <p:sldLayoutId id="2147483665" r:id="rId8"/>
    <p:sldLayoutId id="2147483652" r:id="rId9"/>
    <p:sldLayoutId id="2147483653" r:id="rId10"/>
    <p:sldLayoutId id="2147483654" r:id="rId11"/>
    <p:sldLayoutId id="2147483655" r:id="rId12"/>
    <p:sldLayoutId id="2147483656" r:id="rId13"/>
    <p:sldLayoutId id="2147483657" r:id="rId14"/>
    <p:sldLayoutId id="2147483658" r:id="rId15"/>
    <p:sldLayoutId id="2147483659" r:id="rId16"/>
    <p:sldLayoutId id="2147483664" r:id="rId17"/>
    <p:sldLayoutId id="2147483666" r:id="rId18"/>
  </p:sldLayoutIdLst>
  <p:txStyles>
    <p:titleStyle>
      <a:lvl1pPr algn="l" defTabSz="914400" rtl="0" eaLnBrk="1" latinLnBrk="0" hangingPunct="1">
        <a:spcBef>
          <a:spcPct val="0"/>
        </a:spcBef>
        <a:buNone/>
        <a:defRPr sz="3800" kern="1200">
          <a:solidFill>
            <a:srgbClr val="C00000"/>
          </a:solidFill>
          <a:latin typeface="Segoe UI" pitchFamily="34" charset="0"/>
          <a:ea typeface="Segoe UI" pitchFamily="34" charset="0"/>
          <a:cs typeface="Segoe UI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600" kern="1200">
          <a:solidFill>
            <a:schemeClr val="tx1">
              <a:lumMod val="85000"/>
              <a:lumOff val="15000"/>
            </a:schemeClr>
          </a:solidFill>
          <a:latin typeface="Segoe UI" pitchFamily="34" charset="0"/>
          <a:ea typeface="Segoe UI" pitchFamily="34" charset="0"/>
          <a:cs typeface="Segoe UI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400" kern="1200">
          <a:solidFill>
            <a:schemeClr val="tx1">
              <a:lumMod val="85000"/>
              <a:lumOff val="15000"/>
            </a:schemeClr>
          </a:solidFill>
          <a:latin typeface="Segoe UI" pitchFamily="34" charset="0"/>
          <a:ea typeface="Segoe UI" pitchFamily="34" charset="0"/>
          <a:cs typeface="Segoe UI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>
              <a:lumMod val="85000"/>
              <a:lumOff val="15000"/>
            </a:schemeClr>
          </a:solidFill>
          <a:latin typeface="Segoe UI" pitchFamily="34" charset="0"/>
          <a:ea typeface="Segoe UI" pitchFamily="34" charset="0"/>
          <a:cs typeface="Segoe UI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100" kern="1200">
          <a:solidFill>
            <a:schemeClr val="tx1">
              <a:lumMod val="85000"/>
              <a:lumOff val="15000"/>
            </a:schemeClr>
          </a:solidFill>
          <a:latin typeface="Segoe UI" pitchFamily="34" charset="0"/>
          <a:ea typeface="Segoe UI" pitchFamily="34" charset="0"/>
          <a:cs typeface="Segoe UI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>
              <a:lumMod val="85000"/>
              <a:lumOff val="15000"/>
            </a:schemeClr>
          </a:solidFill>
          <a:latin typeface="Segoe UI" pitchFamily="34" charset="0"/>
          <a:ea typeface="Segoe UI" pitchFamily="34" charset="0"/>
          <a:cs typeface="Segoe UI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://www.sqlservergeeks.com/author/sandippani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dataplatformgeeks.com/" TargetMode="External"/><Relationship Id="rId2" Type="http://schemas.openxmlformats.org/officeDocument/2006/relationships/hyperlink" Target="http://www.facebook.com/groups/theSQLGeeks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://www.sqlservergeeks.com/" TargetMode="External"/><Relationship Id="rId2" Type="http://schemas.openxmlformats.org/officeDocument/2006/relationships/hyperlink" Target="http://www.dataplatformgeeks.com/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://www.sqlservergeeks.com/" TargetMode="External"/><Relationship Id="rId3" Type="http://schemas.openxmlformats.org/officeDocument/2006/relationships/hyperlink" Target="http://facebook.com/groups/theSQLGeeks" TargetMode="External"/><Relationship Id="rId7" Type="http://schemas.openxmlformats.org/officeDocument/2006/relationships/hyperlink" Target="http://www.dataplatformgeeks.com/" TargetMode="External"/><Relationship Id="rId2" Type="http://schemas.openxmlformats.org/officeDocument/2006/relationships/hyperlink" Target="http://facebook.com/SQLServerGeeks" TargetMode="External"/><Relationship Id="rId1" Type="http://schemas.openxmlformats.org/officeDocument/2006/relationships/slideLayout" Target="../slideLayouts/slideLayout18.xml"/><Relationship Id="rId6" Type="http://schemas.openxmlformats.org/officeDocument/2006/relationships/hyperlink" Target="mailto:admin@DataPlatformGeeks.com?subject=Message%20from%20DPG%20Member" TargetMode="External"/><Relationship Id="rId5" Type="http://schemas.openxmlformats.org/officeDocument/2006/relationships/hyperlink" Target="http://www.twitter.com/SQLServerGeeks" TargetMode="External"/><Relationship Id="rId10" Type="http://schemas.openxmlformats.org/officeDocument/2006/relationships/hyperlink" Target="http://www.youtube.com/SQLServerGeeks" TargetMode="External"/><Relationship Id="rId4" Type="http://schemas.openxmlformats.org/officeDocument/2006/relationships/hyperlink" Target="http://www.dataplatformgeeks.com/dpg-mobile/" TargetMode="External"/><Relationship Id="rId9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IN" sz="4400" dirty="0"/>
              <a:t>Feature Engineering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0712" y="2357430"/>
            <a:ext cx="6377640" cy="1143008"/>
          </a:xfrm>
        </p:spPr>
        <p:txBody>
          <a:bodyPr/>
          <a:lstStyle/>
          <a:p>
            <a:r>
              <a:rPr lang="en-IN" dirty="0"/>
              <a:t>Sandip Pani</a:t>
            </a:r>
          </a:p>
          <a:p>
            <a:endParaRPr lang="en-IN" dirty="0"/>
          </a:p>
        </p:txBody>
      </p:sp>
      <p:sp>
        <p:nvSpPr>
          <p:cNvPr id="4" name="Subtitle 5"/>
          <p:cNvSpPr txBox="1">
            <a:spLocks/>
          </p:cNvSpPr>
          <p:nvPr/>
        </p:nvSpPr>
        <p:spPr>
          <a:xfrm>
            <a:off x="380713" y="3214686"/>
            <a:ext cx="4569056" cy="862386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l" defTabSz="457200" rtl="0" eaLnBrk="1" latinLnBrk="0" hangingPunct="1">
              <a:lnSpc>
                <a:spcPts val="28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2400" kern="1200">
                <a:solidFill>
                  <a:schemeClr val="accent6">
                    <a:lumMod val="75000"/>
                  </a:schemeClr>
                </a:solidFill>
                <a:latin typeface="Arial"/>
                <a:ea typeface="+mn-ea"/>
                <a:cs typeface="Arial"/>
              </a:defRPr>
            </a:lvl1pPr>
            <a:lvl2pPr marL="457200" indent="0" algn="ctr" defTabSz="457200" rtl="0" eaLnBrk="1" latinLnBrk="0" hangingPunct="1">
              <a:lnSpc>
                <a:spcPts val="2500"/>
              </a:lnSpc>
              <a:spcBef>
                <a:spcPts val="200"/>
              </a:spcBef>
              <a:spcAft>
                <a:spcPts val="200"/>
              </a:spcAft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SzPct val="100000"/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3pPr>
            <a:lvl4pPr marL="1371600" indent="0" algn="ctr" defTabSz="442913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itchFamily="34" charset="0"/>
                <a:ea typeface="Segoe UI" pitchFamily="34" charset="0"/>
                <a:cs typeface="Segoe UI" pitchFamily="34" charset="0"/>
              </a:rPr>
              <a:t>Senior Staff Engineer (Sr. Data Architect)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475900" y="3071811"/>
            <a:ext cx="4569056" cy="755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551025" y="1611714"/>
            <a:ext cx="10794168" cy="3539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 work for </a:t>
            </a:r>
            <a:r>
              <a:rPr lang="en-US" sz="2000"/>
              <a:t>NextGen HealthCare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DataPlatformGeeks </a:t>
            </a:r>
            <a:r>
              <a:rPr lang="en-IN" sz="2000" dirty="0"/>
              <a:t>Regional Mentor &amp; UG Lead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12+ years of experience on Data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AI/ML Enthusiast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Speaker at global conferences (</a:t>
            </a:r>
            <a:r>
              <a:rPr lang="en-US" sz="2000" dirty="0" err="1"/>
              <a:t>SQLBits</a:t>
            </a:r>
            <a:r>
              <a:rPr lang="en-US" sz="2000" dirty="0"/>
              <a:t> – 2013, </a:t>
            </a:r>
            <a:r>
              <a:rPr lang="en-US" sz="2000" dirty="0" err="1"/>
              <a:t>Notingham</a:t>
            </a:r>
            <a:r>
              <a:rPr lang="en-US" sz="2000" dirty="0"/>
              <a:t>, UK and 2015, London), SSGAS 2016, DPS 2017 , DPS 2018, Meet-Ups and Local User Groups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MCTS, MCITP: Admin, BI &amp; Developer certification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Specialized in Query Tuning and Performance Optimization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Passionate about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Blogger (</a:t>
            </a:r>
            <a:r>
              <a:rPr lang="en-IN" sz="2000" dirty="0">
                <a:hlinkClick r:id="rId2"/>
              </a:rPr>
              <a:t>http://www.sqlservergeeks.com/author/sandippani/</a:t>
            </a:r>
            <a:r>
              <a:rPr lang="en-IN" sz="2000" dirty="0"/>
              <a:t>)</a:t>
            </a:r>
          </a:p>
          <a:p>
            <a:pPr marL="256968" indent="-256968">
              <a:spcAft>
                <a:spcPts val="898"/>
              </a:spcAft>
              <a:buFont typeface="Arial" panose="020B0604020202020204" pitchFamily="34" charset="0"/>
              <a:buChar char="•"/>
            </a:pPr>
            <a:endParaRPr lang="en-US" sz="2398" b="1" u="sng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51025" y="646282"/>
            <a:ext cx="5287588" cy="46673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defTabSz="576012">
              <a:spcBef>
                <a:spcPct val="0"/>
              </a:spcBef>
              <a:buNone/>
              <a:defRPr sz="44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396"/>
              <a:t>Sandip Pani</a:t>
            </a:r>
            <a:endParaRPr lang="en-US" sz="5396" dirty="0"/>
          </a:p>
        </p:txBody>
      </p:sp>
    </p:spTree>
    <p:extLst>
      <p:ext uri="{BB962C8B-B14F-4D97-AF65-F5344CB8AC3E}">
        <p14:creationId xmlns:p14="http://schemas.microsoft.com/office/powerpoint/2010/main" val="1265875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54483" y="1541494"/>
            <a:ext cx="8747760" cy="30146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56968" indent="-256968">
              <a:spcAft>
                <a:spcPts val="898"/>
              </a:spcAft>
              <a:buFont typeface="Arial" panose="020B0604020202020204" pitchFamily="34" charset="0"/>
              <a:buChar char="•"/>
            </a:pPr>
            <a:r>
              <a:rPr lang="en-US" sz="3198" dirty="0">
                <a:solidFill>
                  <a:srgbClr val="000000"/>
                </a:solidFill>
                <a:latin typeface="Arial" panose="020B0604020202020204" pitchFamily="34" charset="0"/>
              </a:rPr>
              <a:t>Introduction to Feature Engineering</a:t>
            </a:r>
          </a:p>
          <a:p>
            <a:pPr marL="256968" indent="-256968">
              <a:spcAft>
                <a:spcPts val="898"/>
              </a:spcAft>
              <a:buFont typeface="Arial" panose="020B0604020202020204" pitchFamily="34" charset="0"/>
              <a:buChar char="•"/>
            </a:pPr>
            <a:r>
              <a:rPr lang="en-US" sz="3198" dirty="0">
                <a:solidFill>
                  <a:srgbClr val="000000"/>
                </a:solidFill>
                <a:latin typeface="Arial" panose="020B0604020202020204" pitchFamily="34" charset="0"/>
              </a:rPr>
              <a:t>Feature Types</a:t>
            </a:r>
          </a:p>
          <a:p>
            <a:pPr marL="256968" indent="-256968">
              <a:spcAft>
                <a:spcPts val="898"/>
              </a:spcAft>
              <a:buFont typeface="Arial" panose="020B0604020202020204" pitchFamily="34" charset="0"/>
              <a:buChar char="•"/>
            </a:pPr>
            <a:r>
              <a:rPr lang="en-US" sz="3198" dirty="0">
                <a:solidFill>
                  <a:srgbClr val="000000"/>
                </a:solidFill>
                <a:latin typeface="Arial" panose="020B0604020202020204" pitchFamily="34" charset="0"/>
              </a:rPr>
              <a:t>Problems with feature</a:t>
            </a:r>
          </a:p>
          <a:p>
            <a:pPr marL="256968" indent="-256968">
              <a:spcAft>
                <a:spcPts val="898"/>
              </a:spcAft>
              <a:buFont typeface="Arial" panose="020B0604020202020204" pitchFamily="34" charset="0"/>
              <a:buChar char="•"/>
            </a:pPr>
            <a:r>
              <a:rPr lang="en-US" sz="3198" dirty="0">
                <a:solidFill>
                  <a:srgbClr val="000000"/>
                </a:solidFill>
                <a:latin typeface="Arial" panose="020B0604020202020204" pitchFamily="34" charset="0"/>
              </a:rPr>
              <a:t>Feature Engineering Techniques </a:t>
            </a:r>
          </a:p>
          <a:p>
            <a:pPr marL="256968" indent="-256968">
              <a:spcAft>
                <a:spcPts val="898"/>
              </a:spcAft>
              <a:buFont typeface="Arial" panose="020B0604020202020204" pitchFamily="34" charset="0"/>
              <a:buChar char="•"/>
            </a:pPr>
            <a:r>
              <a:rPr lang="en-US" sz="3198" dirty="0">
                <a:solidFill>
                  <a:srgbClr val="000000"/>
                </a:solidFill>
                <a:latin typeface="Arial" panose="020B0604020202020204" pitchFamily="34" charset="0"/>
              </a:rPr>
              <a:t>Demo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2451" y="556185"/>
            <a:ext cx="5287588" cy="58981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defTabSz="576012">
              <a:spcBef>
                <a:spcPct val="0"/>
              </a:spcBef>
              <a:buNone/>
              <a:defRPr sz="44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396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926358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1025" y="334672"/>
            <a:ext cx="8491797" cy="48692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defTabSz="576012">
              <a:spcBef>
                <a:spcPct val="0"/>
              </a:spcBef>
              <a:buNone/>
              <a:defRPr sz="44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396" dirty="0"/>
              <a:t>What is feature engineering?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AD4E0A-E1E1-4986-A1B5-C31EFD113636}"/>
              </a:ext>
            </a:extLst>
          </p:cNvPr>
          <p:cNvSpPr/>
          <p:nvPr/>
        </p:nvSpPr>
        <p:spPr>
          <a:xfrm>
            <a:off x="611097" y="1126245"/>
            <a:ext cx="10806057" cy="31005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56968" indent="-256968">
              <a:spcAft>
                <a:spcPts val="898"/>
              </a:spcAft>
              <a:buFont typeface="Arial" panose="020B0604020202020204" pitchFamily="34" charset="0"/>
              <a:buChar char="•"/>
            </a:pPr>
            <a:r>
              <a:rPr lang="en-US" dirty="0"/>
              <a:t>The problem of transforming raw data into a dataset is called feature engineering</a:t>
            </a:r>
          </a:p>
          <a:p>
            <a:pPr marL="256968" indent="-256968">
              <a:spcAft>
                <a:spcPts val="898"/>
              </a:spcAft>
              <a:buFont typeface="Arial" panose="020B0604020202020204" pitchFamily="34" charset="0"/>
              <a:buChar char="•"/>
            </a:pPr>
            <a:r>
              <a:rPr lang="en-US" dirty="0"/>
              <a:t>Transferring data to create model input is called feature engineering</a:t>
            </a:r>
          </a:p>
          <a:p>
            <a:pPr marL="256968" indent="-256968">
              <a:spcAft>
                <a:spcPts val="898"/>
              </a:spcAft>
              <a:buFont typeface="Arial" panose="020B0604020202020204" pitchFamily="34" charset="0"/>
              <a:buChar char="•"/>
            </a:pPr>
            <a:r>
              <a:rPr lang="en-US" dirty="0"/>
              <a:t>Raw data-&gt; data cleaning -&gt;feature engineering -&gt;model building</a:t>
            </a:r>
          </a:p>
          <a:p>
            <a:pPr marL="256968" indent="-256968">
              <a:spcAft>
                <a:spcPts val="898"/>
              </a:spcAft>
              <a:buFont typeface="Arial" panose="020B0604020202020204" pitchFamily="34" charset="0"/>
              <a:buChar char="•"/>
            </a:pPr>
            <a:r>
              <a:rPr lang="en-US" dirty="0"/>
              <a:t>In most model data science application we start with lots of data, and care more on prediction than </a:t>
            </a:r>
            <a:r>
              <a:rPr lang="en-US" sz="4000" b="1" dirty="0"/>
              <a:t>explanation</a:t>
            </a:r>
          </a:p>
          <a:p>
            <a:pPr marL="256968" indent="-256968">
              <a:spcAft>
                <a:spcPts val="898"/>
              </a:spcAft>
              <a:buFont typeface="Arial" panose="020B0604020202020204" pitchFamily="34" charset="0"/>
              <a:buChar char="•"/>
            </a:pPr>
            <a:r>
              <a:rPr lang="en-US" dirty="0"/>
              <a:t>Too much feature engineering can lead to overfitting</a:t>
            </a:r>
          </a:p>
          <a:p>
            <a:pPr>
              <a:spcAft>
                <a:spcPts val="898"/>
              </a:spcAft>
            </a:pPr>
            <a:endParaRPr lang="en-US" sz="2798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78058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1025" y="334672"/>
            <a:ext cx="8491797" cy="48692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defTabSz="576012">
              <a:spcBef>
                <a:spcPct val="0"/>
              </a:spcBef>
              <a:buNone/>
              <a:defRPr sz="44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b="1" dirty="0"/>
              <a:t>Importance of Feature Engineering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AD4E0A-E1E1-4986-A1B5-C31EFD113636}"/>
              </a:ext>
            </a:extLst>
          </p:cNvPr>
          <p:cNvSpPr/>
          <p:nvPr/>
        </p:nvSpPr>
        <p:spPr>
          <a:xfrm>
            <a:off x="611097" y="1126245"/>
            <a:ext cx="10806057" cy="2369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56968" indent="-256968">
              <a:spcAft>
                <a:spcPts val="898"/>
              </a:spcAft>
              <a:buFont typeface="Arial" panose="020B0604020202020204" pitchFamily="34" charset="0"/>
              <a:buChar char="•"/>
            </a:pPr>
            <a:r>
              <a:rPr lang="en-US" dirty="0"/>
              <a:t> Features directly influence the predictive models we use and the results we can achieve.</a:t>
            </a:r>
          </a:p>
          <a:p>
            <a:pPr marL="256968" indent="-256968">
              <a:spcAft>
                <a:spcPts val="898"/>
              </a:spcAft>
              <a:buFont typeface="Arial" panose="020B0604020202020204" pitchFamily="34" charset="0"/>
              <a:buChar char="•"/>
            </a:pPr>
            <a:r>
              <a:rPr lang="en-US" b="1" dirty="0"/>
              <a:t>Flexibility</a:t>
            </a:r>
            <a:r>
              <a:rPr lang="en-US" dirty="0"/>
              <a:t>: good features will allow you to use less complex models that are faster to run, easier to understand and easier to maintain. This is very desirable.</a:t>
            </a:r>
          </a:p>
          <a:p>
            <a:pPr marL="256968" indent="-256968">
              <a:spcAft>
                <a:spcPts val="898"/>
              </a:spcAft>
              <a:buFont typeface="Arial" panose="020B0604020202020204" pitchFamily="34" charset="0"/>
              <a:buChar char="•"/>
            </a:pPr>
            <a:r>
              <a:rPr lang="en-US" b="1" dirty="0"/>
              <a:t>Simpler models: </a:t>
            </a:r>
            <a:r>
              <a:rPr lang="en-US" dirty="0"/>
              <a:t>You do not need to work as hard to pick the right models and the most optimized parameters.</a:t>
            </a:r>
          </a:p>
          <a:p>
            <a:pPr marL="256968" indent="-256968">
              <a:spcAft>
                <a:spcPts val="898"/>
              </a:spcAft>
              <a:buFont typeface="Arial" panose="020B0604020202020204" pitchFamily="34" charset="0"/>
              <a:buChar char="•"/>
            </a:pPr>
            <a:r>
              <a:rPr lang="en-US" b="1" dirty="0"/>
              <a:t>Better features </a:t>
            </a:r>
            <a:r>
              <a:rPr lang="en-US" dirty="0"/>
              <a:t>-&gt; better result</a:t>
            </a:r>
          </a:p>
          <a:p>
            <a:pPr marL="256968" indent="-256968">
              <a:spcAft>
                <a:spcPts val="898"/>
              </a:spcAft>
              <a:buFont typeface="Arial" panose="020B0604020202020204" pitchFamily="34" charset="0"/>
              <a:buChar char="•"/>
            </a:pPr>
            <a:endParaRPr lang="en-US" sz="2798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712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1025" y="334672"/>
            <a:ext cx="8491797" cy="48692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defTabSz="576012">
              <a:spcBef>
                <a:spcPct val="0"/>
              </a:spcBef>
              <a:buNone/>
              <a:defRPr sz="44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396" dirty="0"/>
              <a:t>What people says about FE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AD4E0A-E1E1-4986-A1B5-C31EFD113636}"/>
              </a:ext>
            </a:extLst>
          </p:cNvPr>
          <p:cNvSpPr/>
          <p:nvPr/>
        </p:nvSpPr>
        <p:spPr>
          <a:xfrm>
            <a:off x="611097" y="1126245"/>
            <a:ext cx="10806057" cy="5229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56968" indent="-256968">
              <a:spcAft>
                <a:spcPts val="898"/>
              </a:spcAft>
              <a:buFont typeface="Arial" panose="020B0604020202020204" pitchFamily="34" charset="0"/>
              <a:buChar char="•"/>
            </a:pPr>
            <a:endParaRPr lang="en-US" sz="2798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816AE9-51B3-4442-A845-00CAF9993AF9}"/>
              </a:ext>
            </a:extLst>
          </p:cNvPr>
          <p:cNvSpPr/>
          <p:nvPr/>
        </p:nvSpPr>
        <p:spPr>
          <a:xfrm>
            <a:off x="551025" y="1299115"/>
            <a:ext cx="906939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Actually the success of all Machine Learning algorithms depends on how you present the data. By Mohammad </a:t>
            </a:r>
            <a:r>
              <a:rPr lang="en-US" dirty="0" err="1"/>
              <a:t>Pezeshki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36AF3D7-0148-47BE-B809-4552823DA1A8}"/>
              </a:ext>
            </a:extLst>
          </p:cNvPr>
          <p:cNvSpPr/>
          <p:nvPr/>
        </p:nvSpPr>
        <p:spPr>
          <a:xfrm>
            <a:off x="551025" y="2276872"/>
            <a:ext cx="1115763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The algorithms we used are very standard for </a:t>
            </a:r>
            <a:r>
              <a:rPr lang="en-US" dirty="0" err="1"/>
              <a:t>Kagglers</a:t>
            </a:r>
            <a:r>
              <a:rPr lang="en-US" dirty="0"/>
              <a:t>. […]  We spent most of our efforts in feature engineering. Xavier </a:t>
            </a:r>
            <a:r>
              <a:rPr lang="en-US" dirty="0" err="1"/>
              <a:t>Conort</a:t>
            </a:r>
            <a:r>
              <a:rPr lang="en-US" dirty="0"/>
              <a:t>, on winning the Flight Quest challenge on Kaggle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B2116F-D638-4A06-A6D7-9ACD712EA7CA}"/>
              </a:ext>
            </a:extLst>
          </p:cNvPr>
          <p:cNvSpPr/>
          <p:nvPr/>
        </p:nvSpPr>
        <p:spPr>
          <a:xfrm>
            <a:off x="540967" y="3288467"/>
            <a:ext cx="879142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You have to turn your inputs into things the algorithm can understand by Shayne </a:t>
            </a:r>
            <a:r>
              <a:rPr lang="en-US" dirty="0" err="1"/>
              <a:t>Miel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04811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1025" y="334672"/>
            <a:ext cx="8491797" cy="48692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defTabSz="576012">
              <a:spcBef>
                <a:spcPct val="0"/>
              </a:spcBef>
              <a:buNone/>
              <a:defRPr sz="44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396" dirty="0"/>
              <a:t>Key things to know about ML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AD4E0A-E1E1-4986-A1B5-C31EFD113636}"/>
              </a:ext>
            </a:extLst>
          </p:cNvPr>
          <p:cNvSpPr/>
          <p:nvPr/>
        </p:nvSpPr>
        <p:spPr>
          <a:xfrm>
            <a:off x="611097" y="1126245"/>
            <a:ext cx="10806057" cy="16148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56968" indent="-256968">
              <a:spcAft>
                <a:spcPts val="898"/>
              </a:spcAft>
              <a:buFont typeface="Arial" panose="020B0604020202020204" pitchFamily="34" charset="0"/>
              <a:buChar char="•"/>
            </a:pPr>
            <a:r>
              <a:rPr lang="en-US" sz="2798" dirty="0">
                <a:solidFill>
                  <a:srgbClr val="000000"/>
                </a:solidFill>
                <a:latin typeface="Arial" panose="020B0604020202020204" pitchFamily="34" charset="0"/>
              </a:rPr>
              <a:t>Feature: Numeric representation of raw data</a:t>
            </a:r>
          </a:p>
          <a:p>
            <a:pPr marL="256968" indent="-256968">
              <a:spcAft>
                <a:spcPts val="898"/>
              </a:spcAft>
              <a:buFont typeface="Arial" panose="020B0604020202020204" pitchFamily="34" charset="0"/>
              <a:buChar char="•"/>
            </a:pPr>
            <a:r>
              <a:rPr lang="en-US" sz="2798" dirty="0">
                <a:solidFill>
                  <a:srgbClr val="000000"/>
                </a:solidFill>
                <a:latin typeface="Arial" panose="020B0604020202020204" pitchFamily="34" charset="0"/>
              </a:rPr>
              <a:t>Model : </a:t>
            </a:r>
            <a:r>
              <a:rPr lang="en-US" sz="2798" dirty="0" err="1">
                <a:solidFill>
                  <a:srgbClr val="000000"/>
                </a:solidFill>
                <a:latin typeface="Arial" panose="020B0604020202020204" pitchFamily="34" charset="0"/>
              </a:rPr>
              <a:t>Mathematiocal</a:t>
            </a:r>
            <a:r>
              <a:rPr lang="en-US" sz="2798" dirty="0">
                <a:solidFill>
                  <a:srgbClr val="000000"/>
                </a:solidFill>
                <a:latin typeface="Arial" panose="020B0604020202020204" pitchFamily="34" charset="0"/>
              </a:rPr>
              <a:t> summary of features</a:t>
            </a:r>
          </a:p>
          <a:p>
            <a:pPr marL="256968" indent="-256968">
              <a:spcAft>
                <a:spcPts val="898"/>
              </a:spcAft>
              <a:buFont typeface="Arial" panose="020B0604020202020204" pitchFamily="34" charset="0"/>
              <a:buChar char="•"/>
            </a:pPr>
            <a:r>
              <a:rPr lang="en-US" sz="2798" dirty="0">
                <a:solidFill>
                  <a:srgbClr val="000000"/>
                </a:solidFill>
                <a:latin typeface="Arial" panose="020B0604020202020204" pitchFamily="34" charset="0"/>
              </a:rPr>
              <a:t>Chose the right model and features given data and task</a:t>
            </a:r>
          </a:p>
        </p:txBody>
      </p:sp>
    </p:spTree>
    <p:extLst>
      <p:ext uri="{BB962C8B-B14F-4D97-AF65-F5344CB8AC3E}">
        <p14:creationId xmlns:p14="http://schemas.microsoft.com/office/powerpoint/2010/main" val="3489425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1025" y="334672"/>
            <a:ext cx="8491797" cy="48692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defTabSz="576012">
              <a:spcBef>
                <a:spcPct val="0"/>
              </a:spcBef>
              <a:buNone/>
              <a:defRPr sz="44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396" dirty="0"/>
              <a:t>Data Types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37A83E5-B331-445F-B963-9A67B944A7B5}"/>
              </a:ext>
            </a:extLst>
          </p:cNvPr>
          <p:cNvSpPr/>
          <p:nvPr/>
        </p:nvSpPr>
        <p:spPr>
          <a:xfrm>
            <a:off x="1568563" y="1340768"/>
            <a:ext cx="2520280" cy="64807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Numerica</a:t>
            </a:r>
            <a:r>
              <a:rPr lang="en-US" dirty="0"/>
              <a:t>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273D157-1B80-4195-AB87-A44D310502D2}"/>
              </a:ext>
            </a:extLst>
          </p:cNvPr>
          <p:cNvSpPr/>
          <p:nvPr/>
        </p:nvSpPr>
        <p:spPr>
          <a:xfrm>
            <a:off x="8043885" y="1268760"/>
            <a:ext cx="2520280" cy="64807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Categorical(</a:t>
            </a:r>
            <a:r>
              <a:rPr lang="en-US" dirty="0"/>
              <a:t>labels)</a:t>
            </a:r>
            <a:endParaRPr lang="en-US" b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53748E-0E6F-47C6-A078-06BDD7EFF5BB}"/>
              </a:ext>
            </a:extLst>
          </p:cNvPr>
          <p:cNvSpPr/>
          <p:nvPr/>
        </p:nvSpPr>
        <p:spPr>
          <a:xfrm>
            <a:off x="308423" y="2636912"/>
            <a:ext cx="1751160" cy="64807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Discrete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9C2FE6-FE78-471D-A428-015C43156D85}"/>
              </a:ext>
            </a:extLst>
          </p:cNvPr>
          <p:cNvSpPr/>
          <p:nvPr/>
        </p:nvSpPr>
        <p:spPr>
          <a:xfrm>
            <a:off x="3571751" y="2654914"/>
            <a:ext cx="1872208" cy="64807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Continuous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690551D-3B03-4208-9705-B59476992478}"/>
              </a:ext>
            </a:extLst>
          </p:cNvPr>
          <p:cNvCxnSpPr>
            <a:stCxn id="2" idx="2"/>
          </p:cNvCxnSpPr>
          <p:nvPr/>
        </p:nvCxnSpPr>
        <p:spPr>
          <a:xfrm flipH="1">
            <a:off x="1843559" y="1988840"/>
            <a:ext cx="985144" cy="64807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6199BEC-7C1D-40BC-A039-1E9EF8E79182}"/>
              </a:ext>
            </a:extLst>
          </p:cNvPr>
          <p:cNvCxnSpPr>
            <a:cxnSpLocks/>
          </p:cNvCxnSpPr>
          <p:nvPr/>
        </p:nvCxnSpPr>
        <p:spPr>
          <a:xfrm>
            <a:off x="3211711" y="2006842"/>
            <a:ext cx="1152128" cy="63007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061C5078-B2B8-41FE-B575-4F7941C6FBFC}"/>
              </a:ext>
            </a:extLst>
          </p:cNvPr>
          <p:cNvSpPr/>
          <p:nvPr/>
        </p:nvSpPr>
        <p:spPr>
          <a:xfrm>
            <a:off x="183824" y="3469205"/>
            <a:ext cx="2152307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ArialMT"/>
              </a:rPr>
              <a:t>There’s a </a:t>
            </a:r>
            <a:r>
              <a:rPr lang="en-US" b="1" dirty="0">
                <a:latin typeface="Arial-BoldMT"/>
              </a:rPr>
              <a:t>fixed number </a:t>
            </a:r>
            <a:r>
              <a:rPr lang="en-US" dirty="0">
                <a:latin typeface="ArialMT"/>
              </a:rPr>
              <a:t>of integer</a:t>
            </a:r>
          </a:p>
          <a:p>
            <a:r>
              <a:rPr lang="en-US" dirty="0">
                <a:latin typeface="ArialMT"/>
              </a:rPr>
              <a:t>Values.</a:t>
            </a:r>
          </a:p>
          <a:p>
            <a:r>
              <a:rPr lang="en-US" dirty="0">
                <a:latin typeface="ArialMT"/>
              </a:rPr>
              <a:t>Ex. </a:t>
            </a:r>
            <a:r>
              <a:rPr lang="en-US" b="1" dirty="0">
                <a:latin typeface="ArialMT"/>
              </a:rPr>
              <a:t>Number of house you have.</a:t>
            </a:r>
          </a:p>
          <a:p>
            <a:r>
              <a:rPr lang="en-US" b="1" dirty="0">
                <a:latin typeface="ArialMT"/>
              </a:rPr>
              <a:t>Number of family members etc.</a:t>
            </a:r>
            <a:endParaRPr lang="en-US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D8CED28-05FF-4B20-BA8B-1A86049F3E64}"/>
              </a:ext>
            </a:extLst>
          </p:cNvPr>
          <p:cNvSpPr/>
          <p:nvPr/>
        </p:nvSpPr>
        <p:spPr>
          <a:xfrm>
            <a:off x="3451490" y="3371526"/>
            <a:ext cx="2376264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ArialMT"/>
              </a:rPr>
              <a:t>It can take an </a:t>
            </a:r>
            <a:r>
              <a:rPr lang="en-US" b="1" dirty="0">
                <a:latin typeface="Arial-BoldMT"/>
              </a:rPr>
              <a:t>infinite number </a:t>
            </a:r>
            <a:r>
              <a:rPr lang="en-US" dirty="0">
                <a:latin typeface="ArialMT"/>
              </a:rPr>
              <a:t>of</a:t>
            </a:r>
          </a:p>
          <a:p>
            <a:r>
              <a:rPr lang="en-US" dirty="0">
                <a:latin typeface="ArialMT"/>
              </a:rPr>
              <a:t>Values. </a:t>
            </a:r>
          </a:p>
          <a:p>
            <a:r>
              <a:rPr lang="en-US" b="1" dirty="0">
                <a:latin typeface="ArialMT"/>
              </a:rPr>
              <a:t>Ex. House price, Temperature etc.</a:t>
            </a:r>
            <a:endParaRPr lang="en-US" b="1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5622889-8783-4F32-8018-1C323159798A}"/>
              </a:ext>
            </a:extLst>
          </p:cNvPr>
          <p:cNvSpPr/>
          <p:nvPr/>
        </p:nvSpPr>
        <p:spPr>
          <a:xfrm>
            <a:off x="6933159" y="2636912"/>
            <a:ext cx="1751160" cy="64807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Nominal</a:t>
            </a:r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913E644-1BB4-400A-8B14-F2A4B2FA9DFB}"/>
              </a:ext>
            </a:extLst>
          </p:cNvPr>
          <p:cNvSpPr/>
          <p:nvPr/>
        </p:nvSpPr>
        <p:spPr>
          <a:xfrm>
            <a:off x="9476407" y="2636912"/>
            <a:ext cx="1751160" cy="64807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Ordinal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E116CD-B59C-4DC3-AA33-9A7BE056FA6C}"/>
              </a:ext>
            </a:extLst>
          </p:cNvPr>
          <p:cNvCxnSpPr>
            <a:cxnSpLocks/>
          </p:cNvCxnSpPr>
          <p:nvPr/>
        </p:nvCxnSpPr>
        <p:spPr>
          <a:xfrm flipH="1">
            <a:off x="8043885" y="1916832"/>
            <a:ext cx="856458" cy="70207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FB6A92C-3B3B-4D26-A7C6-F1B3AAF8704C}"/>
              </a:ext>
            </a:extLst>
          </p:cNvPr>
          <p:cNvCxnSpPr>
            <a:cxnSpLocks/>
          </p:cNvCxnSpPr>
          <p:nvPr/>
        </p:nvCxnSpPr>
        <p:spPr>
          <a:xfrm>
            <a:off x="9338203" y="1927738"/>
            <a:ext cx="1013784" cy="70917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5A079195-0B40-469E-92DF-ED32CD93A08E}"/>
              </a:ext>
            </a:extLst>
          </p:cNvPr>
          <p:cNvSpPr/>
          <p:nvPr/>
        </p:nvSpPr>
        <p:spPr>
          <a:xfrm>
            <a:off x="6800270" y="3368024"/>
            <a:ext cx="1884049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ArialMT"/>
              </a:rPr>
              <a:t>You can brand it and order is </a:t>
            </a:r>
            <a:r>
              <a:rPr lang="en-US" b="1" dirty="0">
                <a:latin typeface="ArialMT"/>
              </a:rPr>
              <a:t>not important</a:t>
            </a:r>
            <a:r>
              <a:rPr lang="en-US" dirty="0">
                <a:latin typeface="ArialMT"/>
              </a:rPr>
              <a:t>. Mean median are meaning less</a:t>
            </a:r>
          </a:p>
          <a:p>
            <a:r>
              <a:rPr lang="en-US" b="1" dirty="0">
                <a:latin typeface="Arial-BoldMT"/>
              </a:rPr>
              <a:t>Ex. Nationality, Gender, Color Type</a:t>
            </a:r>
            <a:endParaRPr lang="en-US" b="1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D1A0F5F-E06E-4212-8EC2-638A0F63B76F}"/>
              </a:ext>
            </a:extLst>
          </p:cNvPr>
          <p:cNvSpPr/>
          <p:nvPr/>
        </p:nvSpPr>
        <p:spPr>
          <a:xfrm>
            <a:off x="9304026" y="3356992"/>
            <a:ext cx="2116598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ArialMT"/>
              </a:rPr>
              <a:t>If you can </a:t>
            </a:r>
            <a:r>
              <a:rPr lang="en-US" b="1" dirty="0">
                <a:latin typeface="Arial-BoldMT"/>
              </a:rPr>
              <a:t>order it </a:t>
            </a:r>
            <a:r>
              <a:rPr lang="en-US" dirty="0">
                <a:latin typeface="ArialMT"/>
              </a:rPr>
              <a:t>or </a:t>
            </a:r>
            <a:r>
              <a:rPr lang="en-US" b="1" dirty="0">
                <a:latin typeface="Arial-BoldMT"/>
              </a:rPr>
              <a:t>rank it. </a:t>
            </a:r>
            <a:r>
              <a:rPr lang="en-US" dirty="0"/>
              <a:t>Ordinal data are discrete integers that can be ranked or sorted.</a:t>
            </a:r>
          </a:p>
          <a:p>
            <a:r>
              <a:rPr lang="en-US" b="1" dirty="0">
                <a:latin typeface="Arial-BoldMT"/>
              </a:rPr>
              <a:t>Ex. Designation, Class</a:t>
            </a:r>
          </a:p>
          <a:p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7C5F426-4E3F-479B-A30F-40F2ED02BFFA}"/>
              </a:ext>
            </a:extLst>
          </p:cNvPr>
          <p:cNvSpPr/>
          <p:nvPr/>
        </p:nvSpPr>
        <p:spPr>
          <a:xfrm>
            <a:off x="551025" y="5876997"/>
            <a:ext cx="1029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Recommended reading :http://bit.ly/</a:t>
            </a:r>
            <a:r>
              <a:rPr lang="en-US" dirty="0" err="1"/>
              <a:t>datatypesML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05665E6-1F63-4CD2-853B-16BAC8071150}"/>
              </a:ext>
            </a:extLst>
          </p:cNvPr>
          <p:cNvSpPr/>
          <p:nvPr/>
        </p:nvSpPr>
        <p:spPr>
          <a:xfrm>
            <a:off x="4639622" y="1297497"/>
            <a:ext cx="2520280" cy="64807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Datetime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2129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1025" y="334672"/>
            <a:ext cx="8491797" cy="48692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defTabSz="576012">
              <a:spcBef>
                <a:spcPct val="0"/>
              </a:spcBef>
              <a:buNone/>
              <a:defRPr sz="44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Problem with 	features</a:t>
            </a:r>
            <a:endParaRPr lang="en-US" sz="5396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AD4E0A-E1E1-4986-A1B5-C31EFD113636}"/>
              </a:ext>
            </a:extLst>
          </p:cNvPr>
          <p:cNvSpPr/>
          <p:nvPr/>
        </p:nvSpPr>
        <p:spPr>
          <a:xfrm>
            <a:off x="611097" y="1126245"/>
            <a:ext cx="10806057" cy="48285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798" b="1" dirty="0">
                <a:solidFill>
                  <a:srgbClr val="000000"/>
                </a:solidFill>
                <a:latin typeface="Arial" panose="020B0604020202020204" pitchFamily="34" charset="0"/>
              </a:rPr>
              <a:t>Missing Data </a:t>
            </a:r>
            <a:r>
              <a:rPr lang="en-US" sz="2798" dirty="0">
                <a:solidFill>
                  <a:srgbClr val="000000"/>
                </a:solidFill>
                <a:latin typeface="Arial" panose="020B0604020202020204" pitchFamily="34" charset="0"/>
              </a:rPr>
              <a:t>(</a:t>
            </a:r>
            <a:r>
              <a:rPr lang="en-US" dirty="0"/>
              <a:t>MCAR, MAR, MNAR)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798" b="1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798" b="1" dirty="0">
                <a:solidFill>
                  <a:srgbClr val="000000"/>
                </a:solidFill>
                <a:latin typeface="Arial" panose="020B0604020202020204" pitchFamily="34" charset="0"/>
              </a:rPr>
              <a:t>Labels Cardinality:</a:t>
            </a:r>
            <a:r>
              <a:rPr lang="en-US" dirty="0"/>
              <a:t>	</a:t>
            </a:r>
            <a:r>
              <a:rPr lang="en-US" sz="2798" dirty="0">
                <a:solidFill>
                  <a:srgbClr val="000000"/>
                </a:solidFill>
                <a:latin typeface="Arial" panose="020B0604020202020204" pitchFamily="34" charset="0"/>
              </a:rPr>
              <a:t>Variables with too many labels tend to dominate over those with only a few labels, particularly in Tree based algorithms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sz="2798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798" b="1" dirty="0">
                <a:solidFill>
                  <a:srgbClr val="000000"/>
                </a:solidFill>
                <a:latin typeface="Arial" panose="020B0604020202020204" pitchFamily="34" charset="0"/>
              </a:rPr>
              <a:t>Labels Infrequent categories</a:t>
            </a:r>
            <a:r>
              <a:rPr lang="en-US" sz="2798" dirty="0">
                <a:solidFill>
                  <a:srgbClr val="000000"/>
                </a:solidFill>
                <a:latin typeface="Arial" panose="020B0604020202020204" pitchFamily="34" charset="0"/>
              </a:rPr>
              <a:t>: present in training set but not in test set or present in test set not in train set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798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798" b="1" dirty="0">
                <a:solidFill>
                  <a:srgbClr val="000000"/>
                </a:solidFill>
                <a:latin typeface="Arial" panose="020B0604020202020204" pitchFamily="34" charset="0"/>
              </a:rPr>
              <a:t>Outliers Unusual or unexpected values</a:t>
            </a:r>
            <a:r>
              <a:rPr lang="en-US" sz="2798" dirty="0">
                <a:solidFill>
                  <a:srgbClr val="000000"/>
                </a:solidFill>
                <a:latin typeface="Arial" panose="020B0604020202020204" pitchFamily="34" charset="0"/>
              </a:rPr>
              <a:t>: Affect some algorithms and some algorithms are not impacted</a:t>
            </a:r>
          </a:p>
        </p:txBody>
      </p:sp>
    </p:spTree>
    <p:extLst>
      <p:ext uri="{BB962C8B-B14F-4D97-AF65-F5344CB8AC3E}">
        <p14:creationId xmlns:p14="http://schemas.microsoft.com/office/powerpoint/2010/main" val="30725046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1025" y="334672"/>
            <a:ext cx="8491797" cy="48692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defTabSz="576012">
              <a:spcBef>
                <a:spcPct val="0"/>
              </a:spcBef>
              <a:buNone/>
              <a:defRPr sz="44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Missing Data Mechanisms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AD4E0A-E1E1-4986-A1B5-C31EFD113636}"/>
              </a:ext>
            </a:extLst>
          </p:cNvPr>
          <p:cNvSpPr/>
          <p:nvPr/>
        </p:nvSpPr>
        <p:spPr>
          <a:xfrm>
            <a:off x="611097" y="1126245"/>
            <a:ext cx="10806057" cy="5229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endParaRPr lang="en-US" sz="2798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96D75A-55CB-40A5-84AC-42E3E4793DDB}"/>
              </a:ext>
            </a:extLst>
          </p:cNvPr>
          <p:cNvSpPr/>
          <p:nvPr/>
        </p:nvSpPr>
        <p:spPr>
          <a:xfrm>
            <a:off x="403398" y="1302851"/>
            <a:ext cx="11169567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Helvetica Neue"/>
              </a:rPr>
              <a:t>Missing Completely at Random( MCAR): </a:t>
            </a:r>
            <a:endParaRPr lang="en-US" dirty="0"/>
          </a:p>
          <a:p>
            <a:r>
              <a:rPr lang="en-US" dirty="0"/>
              <a:t>The probability of missing data on any attribute does not depend on any value of attribute. </a:t>
            </a:r>
            <a:r>
              <a:rPr lang="en-US" dirty="0">
                <a:solidFill>
                  <a:srgbClr val="000000"/>
                </a:solidFill>
                <a:latin typeface="Helvetica Neue"/>
              </a:rPr>
              <a:t>M</a:t>
            </a:r>
            <a:r>
              <a:rPr lang="en-US" dirty="0"/>
              <a:t>issing data points are a random subset of the data. There is nothing systematic going on that makes some data more likely to be missing than other. </a:t>
            </a:r>
          </a:p>
          <a:p>
            <a:endParaRPr lang="en-US" dirty="0"/>
          </a:p>
          <a:p>
            <a:r>
              <a:rPr lang="en-US" b="1" dirty="0">
                <a:solidFill>
                  <a:srgbClr val="000000"/>
                </a:solidFill>
                <a:latin typeface="Helvetica Neue"/>
              </a:rPr>
              <a:t>Missing at random (MAR) : </a:t>
            </a:r>
            <a:endParaRPr lang="en-US" dirty="0"/>
          </a:p>
          <a:p>
            <a:r>
              <a:rPr lang="en-US" dirty="0"/>
              <a:t>The probability an observation being missing depends only on available information (other variables in the dataset).</a:t>
            </a:r>
          </a:p>
          <a:p>
            <a:endParaRPr lang="en-US" b="1" dirty="0">
              <a:solidFill>
                <a:srgbClr val="000000"/>
              </a:solidFill>
              <a:latin typeface="Helvetica Neue"/>
            </a:endParaRPr>
          </a:p>
          <a:p>
            <a:r>
              <a:rPr lang="en-US" b="1" dirty="0"/>
              <a:t>Missing Not at Random, (MNAR):</a:t>
            </a:r>
          </a:p>
          <a:p>
            <a:r>
              <a:rPr lang="en-US" dirty="0"/>
              <a:t>Missing of values is not at random (MNAR) if their being missing depends on information not recorded in the dataset. In other words, there is a mechanism or a reason why missing values are introduced in the dataset.</a:t>
            </a:r>
            <a:endParaRPr lang="en-US" b="1" dirty="0"/>
          </a:p>
          <a:p>
            <a:endParaRPr lang="en-US" b="1" dirty="0">
              <a:solidFill>
                <a:srgbClr val="000000"/>
              </a:solidFill>
              <a:latin typeface="Helvetica Neue"/>
            </a:endParaRPr>
          </a:p>
          <a:p>
            <a:endParaRPr lang="en-US" b="1" i="0" dirty="0">
              <a:solidFill>
                <a:srgbClr val="000000"/>
              </a:solidFill>
              <a:effectLst/>
              <a:latin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286035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1025" y="334672"/>
            <a:ext cx="9861486" cy="48692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defTabSz="576012">
              <a:spcBef>
                <a:spcPct val="0"/>
              </a:spcBef>
              <a:buNone/>
              <a:defRPr sz="44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Numeric Feature Engineering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AD4E0A-E1E1-4986-A1B5-C31EFD113636}"/>
              </a:ext>
            </a:extLst>
          </p:cNvPr>
          <p:cNvSpPr/>
          <p:nvPr/>
        </p:nvSpPr>
        <p:spPr>
          <a:xfrm>
            <a:off x="611097" y="1126245"/>
            <a:ext cx="10806057" cy="5229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endParaRPr lang="en-US" sz="2798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96D75A-55CB-40A5-84AC-42E3E4793DDB}"/>
              </a:ext>
            </a:extLst>
          </p:cNvPr>
          <p:cNvSpPr/>
          <p:nvPr/>
        </p:nvSpPr>
        <p:spPr>
          <a:xfrm>
            <a:off x="403398" y="1302851"/>
            <a:ext cx="11169567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There are a lot of different types of numerical data, example: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counts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percentages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Measurements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Age</a:t>
            </a:r>
          </a:p>
          <a:p>
            <a:endParaRPr lang="en-US" dirty="0"/>
          </a:p>
          <a:p>
            <a:r>
              <a:rPr lang="en-US" b="1" dirty="0"/>
              <a:t>Numeric Features are about: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Scale: the range of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Distribution: the probability of taking on a particular value</a:t>
            </a:r>
          </a:p>
          <a:p>
            <a:endParaRPr lang="en-US" dirty="0"/>
          </a:p>
          <a:p>
            <a:endParaRPr lang="en-US" dirty="0"/>
          </a:p>
          <a:p>
            <a:endParaRPr lang="en-US" b="1" i="0" dirty="0">
              <a:solidFill>
                <a:srgbClr val="000000"/>
              </a:solidFill>
              <a:effectLst/>
              <a:latin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778119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1025" y="334672"/>
            <a:ext cx="9861486" cy="48692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defTabSz="576012">
              <a:spcBef>
                <a:spcPct val="0"/>
              </a:spcBef>
              <a:buNone/>
              <a:defRPr sz="44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Dealing with count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AD4E0A-E1E1-4986-A1B5-C31EFD113636}"/>
              </a:ext>
            </a:extLst>
          </p:cNvPr>
          <p:cNvSpPr/>
          <p:nvPr/>
        </p:nvSpPr>
        <p:spPr>
          <a:xfrm>
            <a:off x="611097" y="1126245"/>
            <a:ext cx="10806057" cy="5229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endParaRPr lang="en-US" sz="2798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96D75A-55CB-40A5-84AC-42E3E4793DDB}"/>
              </a:ext>
            </a:extLst>
          </p:cNvPr>
          <p:cNvSpPr/>
          <p:nvPr/>
        </p:nvSpPr>
        <p:spPr>
          <a:xfrm>
            <a:off x="403398" y="1302851"/>
            <a:ext cx="11169567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b="1" dirty="0"/>
              <a:t>Binarization</a:t>
            </a:r>
            <a:endParaRPr lang="en-US" dirty="0"/>
          </a:p>
          <a:p>
            <a:r>
              <a:rPr lang="en-US" dirty="0"/>
              <a:t>The core of quantitative feature binarization is to set a threshold. The value greater than the threshold is 1 and the value less than or equal to the threshold is 0. </a:t>
            </a:r>
          </a:p>
          <a:p>
            <a:endParaRPr lang="en-US" b="1" dirty="0"/>
          </a:p>
          <a:p>
            <a:r>
              <a:rPr lang="en-US" b="1" dirty="0"/>
              <a:t>Ex. </a:t>
            </a:r>
            <a:r>
              <a:rPr lang="en-US" dirty="0"/>
              <a:t>If you are only care about a student is passed or not , you need to convert the quantitative test score into “1” and “0”.</a:t>
            </a:r>
          </a:p>
          <a:p>
            <a:endParaRPr lang="en-US" b="1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b="1" dirty="0"/>
              <a:t>Quantization or Binning </a:t>
            </a:r>
          </a:p>
          <a:p>
            <a:r>
              <a:rPr lang="en-US" dirty="0"/>
              <a:t>You have a numerical feature but you want to convert it into a categorical one. </a:t>
            </a:r>
            <a:r>
              <a:rPr lang="en-US" b="1" dirty="0"/>
              <a:t>Binning </a:t>
            </a:r>
            <a:r>
              <a:rPr lang="en-US" dirty="0"/>
              <a:t>(also called </a:t>
            </a:r>
            <a:r>
              <a:rPr lang="en-US" b="1" dirty="0"/>
              <a:t>bucketing</a:t>
            </a:r>
            <a:r>
              <a:rPr lang="en-US" dirty="0"/>
              <a:t>) is</a:t>
            </a:r>
          </a:p>
          <a:p>
            <a:r>
              <a:rPr lang="en-US" dirty="0"/>
              <a:t>the process of converting a continuous feature into multiple binary features called bins or buckets, typically based on value range. </a:t>
            </a:r>
            <a:r>
              <a:rPr lang="en-US" b="1" dirty="0"/>
              <a:t>Binning helps solve the skewness problem.</a:t>
            </a:r>
            <a:endParaRPr lang="en-US" dirty="0"/>
          </a:p>
          <a:p>
            <a:r>
              <a:rPr lang="en-US" dirty="0"/>
              <a:t>Types : Fixed width binning, quantile binning</a:t>
            </a:r>
          </a:p>
          <a:p>
            <a:endParaRPr lang="en-US" dirty="0"/>
          </a:p>
          <a:p>
            <a:r>
              <a:rPr lang="en-US" b="1" dirty="0"/>
              <a:t>Ex- </a:t>
            </a:r>
            <a:r>
              <a:rPr lang="en-US" dirty="0"/>
              <a:t>Age grouping</a:t>
            </a:r>
          </a:p>
          <a:p>
            <a:r>
              <a:rPr lang="en-US" dirty="0"/>
              <a:t> </a:t>
            </a:r>
          </a:p>
          <a:p>
            <a:endParaRPr lang="en-US" dirty="0"/>
          </a:p>
          <a:p>
            <a:endParaRPr lang="en-US" b="1" i="0" dirty="0">
              <a:solidFill>
                <a:srgbClr val="000000"/>
              </a:solidFill>
              <a:effectLst/>
              <a:latin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1658042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1025" y="334672"/>
            <a:ext cx="9861486" cy="48692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defTabSz="576012">
              <a:spcBef>
                <a:spcPct val="0"/>
              </a:spcBef>
              <a:buNone/>
              <a:defRPr sz="44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Feature Scaling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AD4E0A-E1E1-4986-A1B5-C31EFD113636}"/>
              </a:ext>
            </a:extLst>
          </p:cNvPr>
          <p:cNvSpPr/>
          <p:nvPr/>
        </p:nvSpPr>
        <p:spPr>
          <a:xfrm>
            <a:off x="611097" y="1126245"/>
            <a:ext cx="10806057" cy="5229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endParaRPr lang="en-US" sz="2798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96D75A-55CB-40A5-84AC-42E3E4793DDB}"/>
              </a:ext>
            </a:extLst>
          </p:cNvPr>
          <p:cNvSpPr/>
          <p:nvPr/>
        </p:nvSpPr>
        <p:spPr>
          <a:xfrm>
            <a:off x="403398" y="1302851"/>
            <a:ext cx="11169567" cy="37240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/>
              <a:t>Two common scaling techniques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Normalization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Standardization</a:t>
            </a:r>
          </a:p>
          <a:p>
            <a:endParaRPr lang="en-US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Some algorithms may not perform efficiently when the numerical features have different scales (e.g. KNN, </a:t>
            </a:r>
            <a:r>
              <a:rPr lang="en-US" dirty="0" err="1"/>
              <a:t>KMeans</a:t>
            </a:r>
            <a:r>
              <a:rPr lang="en-US" dirty="0"/>
              <a:t> Clustering, PCA...)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Scaling helps provide better mathematical properties in some algorithms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Feature scaling always divides the feature by a constant. And it does not change the distribution of your data</a:t>
            </a:r>
          </a:p>
          <a:p>
            <a:r>
              <a:rPr lang="en-US" dirty="0"/>
              <a:t> </a:t>
            </a:r>
          </a:p>
          <a:p>
            <a:endParaRPr lang="en-US" dirty="0"/>
          </a:p>
          <a:p>
            <a:endParaRPr lang="en-US" b="1" i="0" dirty="0">
              <a:solidFill>
                <a:srgbClr val="000000"/>
              </a:solidFill>
              <a:effectLst/>
              <a:latin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5117514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1025" y="334672"/>
            <a:ext cx="9861486" cy="48692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defTabSz="576012">
              <a:spcBef>
                <a:spcPct val="0"/>
              </a:spcBef>
              <a:buNone/>
              <a:defRPr sz="44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Standard Scaling (Standardization)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AD4E0A-E1E1-4986-A1B5-C31EFD113636}"/>
              </a:ext>
            </a:extLst>
          </p:cNvPr>
          <p:cNvSpPr/>
          <p:nvPr/>
        </p:nvSpPr>
        <p:spPr>
          <a:xfrm>
            <a:off x="611097" y="1126245"/>
            <a:ext cx="10806057" cy="5229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endParaRPr lang="en-US" sz="2798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96D75A-55CB-40A5-84AC-42E3E4793DDB}"/>
              </a:ext>
            </a:extLst>
          </p:cNvPr>
          <p:cNvSpPr/>
          <p:nvPr/>
        </p:nvSpPr>
        <p:spPr>
          <a:xfrm>
            <a:off x="403398" y="1302851"/>
            <a:ext cx="11169567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Features are scaled with a </a:t>
            </a:r>
            <a:r>
              <a:rPr lang="en-US" b="1" dirty="0"/>
              <a:t>mean of 0 </a:t>
            </a:r>
            <a:r>
              <a:rPr lang="en-US" dirty="0"/>
              <a:t>and </a:t>
            </a:r>
            <a:r>
              <a:rPr lang="en-US" b="1" dirty="0" err="1"/>
              <a:t>std</a:t>
            </a:r>
            <a:r>
              <a:rPr lang="en-US" b="1" dirty="0"/>
              <a:t> of 1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Useful when comparing measurements with different units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Useful when your model is sensitive to magnitude</a:t>
            </a:r>
          </a:p>
          <a:p>
            <a:r>
              <a:rPr lang="en-US" dirty="0"/>
              <a:t>	EX:PCA : We’re interested in the components that maximize the </a:t>
            </a:r>
            <a:r>
              <a:rPr lang="en-US" b="1" dirty="0"/>
              <a:t>variance</a:t>
            </a:r>
          </a:p>
          <a:p>
            <a:endParaRPr lang="en-US" b="1" dirty="0"/>
          </a:p>
          <a:p>
            <a:r>
              <a:rPr lang="en-US" b="1" dirty="0"/>
              <a:t>	X - mean/ </a:t>
            </a:r>
            <a:r>
              <a:rPr lang="en-US" b="1" dirty="0" err="1"/>
              <a:t>sd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b="1" i="0" dirty="0">
              <a:solidFill>
                <a:srgbClr val="000000"/>
              </a:solidFill>
              <a:effectLst/>
              <a:latin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5841033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1025" y="334672"/>
            <a:ext cx="9861486" cy="48692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defTabSz="576012">
              <a:spcBef>
                <a:spcPct val="0"/>
              </a:spcBef>
              <a:buNone/>
              <a:defRPr sz="44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Normalization (Min/Max Scaling)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AD4E0A-E1E1-4986-A1B5-C31EFD113636}"/>
              </a:ext>
            </a:extLst>
          </p:cNvPr>
          <p:cNvSpPr/>
          <p:nvPr/>
        </p:nvSpPr>
        <p:spPr>
          <a:xfrm>
            <a:off x="611097" y="1126245"/>
            <a:ext cx="10806057" cy="5229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endParaRPr lang="en-US" sz="2798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96D75A-55CB-40A5-84AC-42E3E4793DDB}"/>
              </a:ext>
            </a:extLst>
          </p:cNvPr>
          <p:cNvSpPr/>
          <p:nvPr/>
        </p:nvSpPr>
        <p:spPr>
          <a:xfrm>
            <a:off x="403398" y="1302851"/>
            <a:ext cx="11169567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Features are scaled from 0-1 or any other fixed range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Ends up with smaller standard deviations</a:t>
            </a:r>
          </a:p>
          <a:p>
            <a:r>
              <a:rPr lang="en-US" b="1" dirty="0"/>
              <a:t>Example</a:t>
            </a:r>
            <a:r>
              <a:rPr lang="en-US" dirty="0"/>
              <a:t>: Image Processing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/>
              <a:t>When you want to normalize the pixel intensity to 0-255 (RGB</a:t>
            </a:r>
          </a:p>
          <a:p>
            <a:r>
              <a:rPr lang="en-US" dirty="0"/>
              <a:t>color range)</a:t>
            </a:r>
          </a:p>
          <a:p>
            <a:endParaRPr lang="en-US" dirty="0"/>
          </a:p>
          <a:p>
            <a:r>
              <a:rPr lang="en-US" b="1" i="0" dirty="0">
                <a:solidFill>
                  <a:srgbClr val="000000"/>
                </a:solidFill>
                <a:effectLst/>
                <a:latin typeface="Helvetica Neue"/>
              </a:rPr>
              <a:t>Formula : (X – min(X))/ (max(X) – min(X))</a:t>
            </a:r>
          </a:p>
        </p:txBody>
      </p:sp>
    </p:spTree>
    <p:extLst>
      <p:ext uri="{BB962C8B-B14F-4D97-AF65-F5344CB8AC3E}">
        <p14:creationId xmlns:p14="http://schemas.microsoft.com/office/powerpoint/2010/main" val="12838601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51025" y="334672"/>
            <a:ext cx="8491797" cy="48692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defTabSz="576012">
              <a:spcBef>
                <a:spcPct val="0"/>
              </a:spcBef>
              <a:buNone/>
              <a:defRPr sz="44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Encoding Categorical Variables</a:t>
            </a:r>
            <a:endParaRPr lang="en-US" sz="5396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AD4E0A-E1E1-4986-A1B5-C31EFD113636}"/>
              </a:ext>
            </a:extLst>
          </p:cNvPr>
          <p:cNvSpPr/>
          <p:nvPr/>
        </p:nvSpPr>
        <p:spPr>
          <a:xfrm>
            <a:off x="611097" y="1126245"/>
            <a:ext cx="10806057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Encoding Categorical Variables</a:t>
            </a:r>
          </a:p>
          <a:p>
            <a:r>
              <a:rPr lang="en-US" b="1" dirty="0"/>
              <a:t>Two Common Approaches:</a:t>
            </a:r>
          </a:p>
          <a:p>
            <a:r>
              <a:rPr lang="en-US" b="1" dirty="0"/>
              <a:t>1. Label Encoding - </a:t>
            </a:r>
            <a:r>
              <a:rPr lang="en-US" dirty="0"/>
              <a:t>Each category are labeled as ordered integers</a:t>
            </a:r>
          </a:p>
          <a:p>
            <a:r>
              <a:rPr lang="en-US" b="1" dirty="0"/>
              <a:t>2. One Hot Encoding / Dummy Encoding - </a:t>
            </a:r>
            <a:r>
              <a:rPr lang="en-US" dirty="0"/>
              <a:t>Transform</a:t>
            </a:r>
          </a:p>
          <a:p>
            <a:r>
              <a:rPr lang="en-US" dirty="0"/>
              <a:t>categories into individual binary feature (0 or 1) features lying in different ranges.</a:t>
            </a:r>
            <a:endParaRPr lang="en-US" sz="2798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1377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807504" y="1428737"/>
            <a:ext cx="6853583" cy="704119"/>
          </a:xfrm>
        </p:spPr>
        <p:txBody>
          <a:bodyPr>
            <a:normAutofit fontScale="90000"/>
          </a:bodyPr>
          <a:lstStyle/>
          <a:p>
            <a:r>
              <a:rPr lang="en-US"/>
              <a:t>Demo on Feature </a:t>
            </a:r>
            <a:r>
              <a:rPr lang="en-US" dirty="0"/>
              <a:t>Engineering</a:t>
            </a:r>
            <a:endParaRPr lang="en-IN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83058" y="1251015"/>
            <a:ext cx="11237824" cy="513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spcAft>
                <a:spcPts val="898"/>
              </a:spcAft>
              <a:buFont typeface="Arial" panose="020B0604020202020204" pitchFamily="34" charset="0"/>
              <a:buChar char="•"/>
            </a:pPr>
            <a:r>
              <a:rPr lang="en-US" sz="2798" dirty="0">
                <a:solidFill>
                  <a:srgbClr val="000000"/>
                </a:solidFill>
                <a:latin typeface="Arial" panose="020B0604020202020204" pitchFamily="34" charset="0"/>
              </a:rPr>
              <a:t>what is FE and importance of FE</a:t>
            </a:r>
          </a:p>
          <a:p>
            <a:pPr marL="457200" indent="-457200">
              <a:spcAft>
                <a:spcPts val="898"/>
              </a:spcAft>
              <a:buFont typeface="Arial" panose="020B0604020202020204" pitchFamily="34" charset="0"/>
              <a:buChar char="•"/>
            </a:pPr>
            <a:r>
              <a:rPr lang="en-US" sz="2798" dirty="0">
                <a:solidFill>
                  <a:srgbClr val="000000"/>
                </a:solidFill>
                <a:latin typeface="Arial" panose="020B0604020202020204" pitchFamily="34" charset="0"/>
              </a:rPr>
              <a:t>Data Types</a:t>
            </a:r>
          </a:p>
          <a:p>
            <a:pPr marL="457200" indent="-457200">
              <a:spcAft>
                <a:spcPts val="898"/>
              </a:spcAft>
              <a:buFont typeface="Arial" panose="020B0604020202020204" pitchFamily="34" charset="0"/>
              <a:buChar char="•"/>
            </a:pPr>
            <a:r>
              <a:rPr lang="en-US" sz="2798" dirty="0">
                <a:solidFill>
                  <a:srgbClr val="000000"/>
                </a:solidFill>
                <a:latin typeface="Arial" panose="020B0604020202020204" pitchFamily="34" charset="0"/>
              </a:rPr>
              <a:t>Missing data problem</a:t>
            </a:r>
          </a:p>
          <a:p>
            <a:pPr marL="457200" indent="-457200">
              <a:spcAft>
                <a:spcPts val="898"/>
              </a:spcAft>
              <a:buFont typeface="Arial" panose="020B0604020202020204" pitchFamily="34" charset="0"/>
              <a:buChar char="•"/>
            </a:pPr>
            <a:r>
              <a:rPr lang="en-US" sz="2798" dirty="0">
                <a:solidFill>
                  <a:srgbClr val="000000"/>
                </a:solidFill>
                <a:latin typeface="Arial" panose="020B0604020202020204" pitchFamily="34" charset="0"/>
              </a:rPr>
              <a:t>Numeric Feature Engineering</a:t>
            </a:r>
          </a:p>
          <a:p>
            <a:pPr marL="457200" indent="-457200">
              <a:spcAft>
                <a:spcPts val="898"/>
              </a:spcAft>
              <a:buFont typeface="Arial" panose="020B0604020202020204" pitchFamily="34" charset="0"/>
              <a:buChar char="•"/>
            </a:pPr>
            <a:r>
              <a:rPr lang="en-US" sz="2798" dirty="0">
                <a:solidFill>
                  <a:srgbClr val="000000"/>
                </a:solidFill>
                <a:latin typeface="Arial" panose="020B0604020202020204" pitchFamily="34" charset="0"/>
              </a:rPr>
              <a:t>Feature scaling and categorical encoding</a:t>
            </a:r>
          </a:p>
          <a:p>
            <a:pPr marL="457200" indent="-457200">
              <a:spcAft>
                <a:spcPts val="898"/>
              </a:spcAft>
              <a:buFont typeface="Arial" panose="020B0604020202020204" pitchFamily="34" charset="0"/>
              <a:buChar char="•"/>
            </a:pPr>
            <a:endParaRPr lang="en-US" sz="2798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457200" indent="-457200">
              <a:spcAft>
                <a:spcPts val="898"/>
              </a:spcAft>
              <a:buFont typeface="Arial" panose="020B0604020202020204" pitchFamily="34" charset="0"/>
              <a:buChar char="•"/>
            </a:pPr>
            <a:endParaRPr lang="en-US" sz="2798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>
              <a:spcAft>
                <a:spcPts val="898"/>
              </a:spcAft>
            </a:pPr>
            <a:endParaRPr lang="en-US" sz="2798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>
              <a:spcAft>
                <a:spcPts val="898"/>
              </a:spcAft>
            </a:pPr>
            <a:r>
              <a:rPr lang="en-US" sz="4400" dirty="0">
                <a:solidFill>
                  <a:schemeClr val="accent1"/>
                </a:solidFill>
                <a:latin typeface="Arial" panose="020B0604020202020204" pitchFamily="34" charset="0"/>
              </a:rPr>
              <a:t>Q &amp; A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1024" y="556185"/>
            <a:ext cx="10854544" cy="562452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defTabSz="576012">
              <a:spcBef>
                <a:spcPct val="0"/>
              </a:spcBef>
              <a:buNone/>
              <a:defRPr sz="44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396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4194001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198" dirty="0"/>
              <a:t>Help Us Grow The Community</a:t>
            </a:r>
            <a:endParaRPr lang="en-IN" sz="3198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999"/>
              </a:spcBef>
              <a:buNone/>
            </a:pPr>
            <a:r>
              <a:rPr lang="en-US" sz="3597" dirty="0">
                <a:hlinkClick r:id="rId2"/>
              </a:rPr>
              <a:t>www.facebook.com/groups/theSQLGeeks</a:t>
            </a:r>
            <a:endParaRPr lang="en-US" sz="3597" dirty="0"/>
          </a:p>
          <a:p>
            <a:pPr marL="0" indent="0">
              <a:spcBef>
                <a:spcPts val="999"/>
              </a:spcBef>
              <a:buNone/>
            </a:pPr>
            <a:endParaRPr lang="en-IN" sz="2798" dirty="0">
              <a:solidFill>
                <a:schemeClr val="tx1"/>
              </a:solidFill>
            </a:endParaRPr>
          </a:p>
          <a:p>
            <a:pPr marL="0" indent="0">
              <a:spcBef>
                <a:spcPts val="999"/>
              </a:spcBef>
              <a:buNone/>
            </a:pPr>
            <a:r>
              <a:rPr lang="en-IN" sz="2798" dirty="0">
                <a:solidFill>
                  <a:schemeClr val="tx1"/>
                </a:solidFill>
              </a:rPr>
              <a:t>We are posting today’s group pic in our FB Group.</a:t>
            </a:r>
          </a:p>
          <a:p>
            <a:pPr marL="0" indent="0">
              <a:spcBef>
                <a:spcPts val="999"/>
              </a:spcBef>
              <a:buNone/>
            </a:pPr>
            <a:endParaRPr lang="en-IN" sz="2798" dirty="0">
              <a:solidFill>
                <a:schemeClr val="tx1"/>
              </a:solidFill>
            </a:endParaRPr>
          </a:p>
          <a:p>
            <a:pPr marL="0" indent="0">
              <a:spcBef>
                <a:spcPts val="999"/>
              </a:spcBef>
              <a:buNone/>
            </a:pPr>
            <a:r>
              <a:rPr lang="en-IN" sz="2798" dirty="0">
                <a:solidFill>
                  <a:schemeClr val="tx1"/>
                </a:solidFill>
              </a:rPr>
              <a:t>Share it on your wall and post comments. Let your friends know that you joined today’s session and it was worth your time. Invite them to </a:t>
            </a:r>
            <a:r>
              <a:rPr lang="en-IN" sz="2798" dirty="0">
                <a:solidFill>
                  <a:schemeClr val="tx1"/>
                </a:solidFill>
                <a:hlinkClick r:id="rId3"/>
              </a:rPr>
              <a:t>www.DataPlatformGeeks.com</a:t>
            </a:r>
            <a:r>
              <a:rPr lang="en-IN" sz="2798" dirty="0">
                <a:solidFill>
                  <a:schemeClr val="tx1"/>
                </a:solidFill>
              </a:rPr>
              <a:t> so that they too can benefit. We all </a:t>
            </a:r>
            <a:r>
              <a:rPr lang="en-IN" sz="2798">
                <a:solidFill>
                  <a:schemeClr val="tx1"/>
                </a:solidFill>
              </a:rPr>
              <a:t>grow together.</a:t>
            </a:r>
            <a:endParaRPr lang="en-IN" sz="2798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1698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0"/>
    </mc:Choice>
    <mc:Fallback xmlns="">
      <p:transition spd="slow" advClick="0" advTm="20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DataPlatformGeeks</a:t>
            </a:r>
            <a:r>
              <a:rPr lang="en-US" dirty="0"/>
              <a:t> (DPG) Community</a:t>
            </a:r>
            <a:br>
              <a:rPr lang="en-US" dirty="0"/>
            </a:br>
            <a:r>
              <a:rPr lang="en-US" sz="2398" dirty="0"/>
              <a:t>Join the fastest growing community of data &amp; analytics professionals</a:t>
            </a:r>
            <a:endParaRPr lang="en-IN" sz="2798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203" y="1600201"/>
            <a:ext cx="10965657" cy="5069159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IN" sz="2398" b="1" dirty="0">
                <a:solidFill>
                  <a:schemeClr val="tx1"/>
                </a:solidFill>
              </a:rPr>
              <a:t>Why Join DPG?</a:t>
            </a:r>
            <a:endParaRPr lang="en-IN" sz="1999" b="1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</a:pPr>
            <a:r>
              <a:rPr lang="en-IN" sz="1999" dirty="0">
                <a:solidFill>
                  <a:schemeClr val="tx1"/>
                </a:solidFill>
              </a:rPr>
              <a:t>Attend all events hosted by DPG, including SQLMaestros Special Events</a:t>
            </a:r>
          </a:p>
          <a:p>
            <a:pPr>
              <a:lnSpc>
                <a:spcPct val="150000"/>
              </a:lnSpc>
            </a:pPr>
            <a:r>
              <a:rPr lang="en-IN" sz="1999" dirty="0">
                <a:solidFill>
                  <a:schemeClr val="tx1"/>
                </a:solidFill>
              </a:rPr>
              <a:t>Get access to free videos, labs, magazines and host of learning resources</a:t>
            </a:r>
          </a:p>
          <a:p>
            <a:pPr>
              <a:lnSpc>
                <a:spcPct val="150000"/>
              </a:lnSpc>
            </a:pPr>
            <a:r>
              <a:rPr lang="en-IN" sz="1999" dirty="0">
                <a:solidFill>
                  <a:schemeClr val="tx1"/>
                </a:solidFill>
              </a:rPr>
              <a:t>Download all events &amp; conference material</a:t>
            </a:r>
          </a:p>
          <a:p>
            <a:pPr>
              <a:lnSpc>
                <a:spcPct val="150000"/>
              </a:lnSpc>
            </a:pPr>
            <a:r>
              <a:rPr lang="en-IN" sz="1999" dirty="0">
                <a:solidFill>
                  <a:schemeClr val="tx1"/>
                </a:solidFill>
              </a:rPr>
              <a:t>Learn new skills. Sharpen existing skills</a:t>
            </a:r>
          </a:p>
          <a:p>
            <a:pPr>
              <a:lnSpc>
                <a:spcPct val="150000"/>
              </a:lnSpc>
            </a:pPr>
            <a:r>
              <a:rPr lang="en-IN" sz="1999" dirty="0">
                <a:solidFill>
                  <a:schemeClr val="tx1"/>
                </a:solidFill>
              </a:rPr>
              <a:t>Be part of Asia’s Largest Data/Analytics Community</a:t>
            </a:r>
          </a:p>
          <a:p>
            <a:pPr>
              <a:lnSpc>
                <a:spcPct val="150000"/>
              </a:lnSpc>
            </a:pPr>
            <a:r>
              <a:rPr lang="en-IN" sz="1999" dirty="0">
                <a:solidFill>
                  <a:schemeClr val="tx1"/>
                </a:solidFill>
              </a:rPr>
              <a:t>Opportunity to be a regional mentor &amp; speaker at our events</a:t>
            </a:r>
          </a:p>
          <a:p>
            <a:pPr>
              <a:lnSpc>
                <a:spcPct val="150000"/>
              </a:lnSpc>
            </a:pPr>
            <a:r>
              <a:rPr lang="en-IN" sz="1999" dirty="0">
                <a:solidFill>
                  <a:schemeClr val="tx1"/>
                </a:solidFill>
              </a:rPr>
              <a:t>Immense technical &amp; professional development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IN" sz="1999" dirty="0">
                <a:solidFill>
                  <a:schemeClr val="tx1"/>
                </a:solidFill>
                <a:hlinkClick r:id="rId2"/>
              </a:rPr>
              <a:t>www.DataPlatformGeeks.com</a:t>
            </a:r>
            <a:endParaRPr lang="en-IN" sz="1999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IN" sz="1999" dirty="0">
                <a:solidFill>
                  <a:schemeClr val="tx1"/>
                </a:solidFill>
                <a:hlinkClick r:id="rId3"/>
              </a:rPr>
              <a:t>www.SQLServerGeeks.com</a:t>
            </a:r>
            <a:endParaRPr lang="en-IN" sz="1999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endParaRPr lang="en-IN" sz="1999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endParaRPr lang="en-IN" sz="1999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0652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0"/>
    </mc:Choice>
    <mc:Fallback xmlns="">
      <p:transition spd="slow" advClick="0" advTm="2000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endParaRPr lang="en-IN" sz="2798" dirty="0"/>
          </a:p>
        </p:txBody>
      </p:sp>
      <p:pic>
        <p:nvPicPr>
          <p:cNvPr id="9" name="Picture 9" descr="A group of people posing for the camera&#10;&#10;Description generated with very high confidence">
            <a:extLst>
              <a:ext uri="{FF2B5EF4-FFF2-40B4-BE49-F238E27FC236}">
                <a16:creationId xmlns:a16="http://schemas.microsoft.com/office/drawing/2014/main" id="{F8E9C4A3-56D1-448C-8C11-0F41CAC2E1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835" y="4314"/>
            <a:ext cx="7436285" cy="6984491"/>
          </a:xfrm>
          <a:prstGeom prst="rect">
            <a:avLst/>
          </a:prstGeom>
        </p:spPr>
      </p:pic>
      <p:pic>
        <p:nvPicPr>
          <p:cNvPr id="15" name="Picture 15" descr="A person looking at the camera&#10;&#10;Description generated with very high confidence">
            <a:extLst>
              <a:ext uri="{FF2B5EF4-FFF2-40B4-BE49-F238E27FC236}">
                <a16:creationId xmlns:a16="http://schemas.microsoft.com/office/drawing/2014/main" id="{B4D7E348-B960-4E6E-A479-2713313AF4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9706" y="3912708"/>
            <a:ext cx="2258619" cy="2943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922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0"/>
    </mc:Choice>
    <mc:Fallback xmlns="">
      <p:transition spd="slow" advClick="0" advTm="2000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198" dirty="0"/>
              <a:t>Have Questions?</a:t>
            </a:r>
            <a:endParaRPr lang="en-IN" sz="3198" dirty="0"/>
          </a:p>
        </p:txBody>
      </p:sp>
      <p:pic>
        <p:nvPicPr>
          <p:cNvPr id="6" name="Picture 6" descr="A picture containing animal&#10;&#10;Description generated with high confidence">
            <a:extLst>
              <a:ext uri="{FF2B5EF4-FFF2-40B4-BE49-F238E27FC236}">
                <a16:creationId xmlns:a16="http://schemas.microsoft.com/office/drawing/2014/main" id="{65D82EA9-47EB-4996-9105-00472D4807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61723" y="1600201"/>
            <a:ext cx="10860617" cy="4525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867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0"/>
    </mc:Choice>
    <mc:Fallback xmlns="">
      <p:transition spd="slow" advClick="0" advTm="2000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2893" y="5343986"/>
            <a:ext cx="4125189" cy="152567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ts val="2000"/>
              </a:lnSpc>
            </a:pPr>
            <a:r>
              <a:rPr lang="en-IN" sz="1400" b="0" i="0" kern="1200" dirty="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  <a:hlinkClick r:id="rId2"/>
              </a:rPr>
              <a:t>facebook.com/SQLServerGeeks</a:t>
            </a:r>
            <a:endParaRPr lang="en-IN" sz="1400" b="0" i="0" kern="1200" dirty="0">
              <a:solidFill>
                <a:schemeClr val="tx1"/>
              </a:solidFill>
              <a:latin typeface="Segoe UI" pitchFamily="34" charset="0"/>
              <a:ea typeface="Segoe UI" pitchFamily="34" charset="0"/>
              <a:cs typeface="Segoe UI" pitchFamily="34" charset="0"/>
            </a:endParaRPr>
          </a:p>
          <a:p>
            <a:pPr>
              <a:lnSpc>
                <a:spcPts val="2000"/>
              </a:lnSpc>
            </a:pPr>
            <a:r>
              <a:rPr lang="en-IN" sz="1400" b="0" i="0" kern="1200" dirty="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  <a:hlinkClick r:id="rId3"/>
              </a:rPr>
              <a:t>facebook.com/groups/</a:t>
            </a:r>
            <a:r>
              <a:rPr lang="en-IN" sz="1400" b="0" i="0" kern="1200" dirty="0" err="1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  <a:hlinkClick r:id="rId3"/>
              </a:rPr>
              <a:t>theSQLGeeks</a:t>
            </a:r>
            <a:endParaRPr lang="en-IN" sz="1400" b="0" i="0" kern="1200" dirty="0">
              <a:solidFill>
                <a:schemeClr val="tx1"/>
              </a:solidFill>
              <a:latin typeface="Segoe UI" pitchFamily="34" charset="0"/>
              <a:ea typeface="Segoe UI" pitchFamily="34" charset="0"/>
              <a:cs typeface="Segoe UI" pitchFamily="34" charset="0"/>
            </a:endParaRPr>
          </a:p>
          <a:p>
            <a:pPr>
              <a:lnSpc>
                <a:spcPts val="2000"/>
              </a:lnSpc>
            </a:pPr>
            <a:endParaRPr lang="en-IN" sz="1400" dirty="0">
              <a:latin typeface="Segoe UI" pitchFamily="34" charset="0"/>
              <a:ea typeface="Segoe UI" pitchFamily="34" charset="0"/>
              <a:cs typeface="Segoe UI" pitchFamily="34" charset="0"/>
            </a:endParaRPr>
          </a:p>
          <a:p>
            <a:r>
              <a:rPr lang="en-IN" sz="1400" b="1">
                <a:latin typeface="Segoe UI" pitchFamily="34" charset="0"/>
                <a:cs typeface="Segoe UI" pitchFamily="34" charset="0"/>
              </a:rPr>
              <a:t>Join The Community on Mobile</a:t>
            </a:r>
            <a:br>
              <a:rPr lang="en-IN" sz="1400" b="1" dirty="0">
                <a:latin typeface="Segoe UI" pitchFamily="34" charset="0"/>
                <a:cs typeface="Segoe UI" pitchFamily="34" charset="0"/>
              </a:rPr>
            </a:br>
            <a:r>
              <a:rPr lang="en-IN" sz="1400" b="1" dirty="0">
                <a:latin typeface="Segoe UI" pitchFamily="34" charset="0"/>
                <a:cs typeface="Segoe UI" pitchFamily="34" charset="0"/>
              </a:rPr>
              <a:t> </a:t>
            </a:r>
            <a:r>
              <a:rPr lang="en-IN" sz="1400" dirty="0">
                <a:latin typeface="Segoe UI" pitchFamily="34" charset="0"/>
                <a:cs typeface="Segoe UI" pitchFamily="34" charset="0"/>
                <a:hlinkClick r:id="rId4"/>
              </a:rPr>
              <a:t>http://www.dataplatformgeeks.com/dpg-mobile/</a:t>
            </a:r>
            <a:endParaRPr lang="en-IN"/>
          </a:p>
          <a:p>
            <a:pPr>
              <a:lnSpc>
                <a:spcPts val="2000"/>
              </a:lnSpc>
            </a:pPr>
            <a:endParaRPr lang="en-IN" sz="1400" dirty="0"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ACFBED-14F8-4211-8CAD-AB3FB9593819}"/>
              </a:ext>
            </a:extLst>
          </p:cNvPr>
          <p:cNvSpPr txBox="1"/>
          <p:nvPr/>
        </p:nvSpPr>
        <p:spPr>
          <a:xfrm>
            <a:off x="458885" y="4811552"/>
            <a:ext cx="4305153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Segoe UI" pitchFamily="34" charset="0"/>
                <a:ea typeface="Segoe UI" pitchFamily="34" charset="0"/>
                <a:cs typeface="Segoe UI" pitchFamily="34" charset="0"/>
                <a:hlinkClick r:id="rId5"/>
              </a:rPr>
              <a:t>@SQLServerGeeks</a:t>
            </a:r>
            <a:r>
              <a:rPr lang="en-US" sz="1350" dirty="0">
                <a:latin typeface="Segoe UI" pitchFamily="34" charset="0"/>
                <a:ea typeface="Segoe UI" pitchFamily="34" charset="0"/>
                <a:cs typeface="Segoe UI" pitchFamily="34" charset="0"/>
              </a:rPr>
              <a:t>  |  </a:t>
            </a:r>
            <a:r>
              <a:rPr lang="en-US" sz="1350" dirty="0">
                <a:latin typeface="Segoe UI" pitchFamily="34" charset="0"/>
                <a:ea typeface="Segoe UI" pitchFamily="34" charset="0"/>
                <a:cs typeface="Segoe UI" pitchFamily="34" charset="0"/>
                <a:hlinkClick r:id="rId6"/>
              </a:rPr>
              <a:t>admin@DataPlatformGeeks.com</a:t>
            </a:r>
            <a:endParaRPr lang="en-IN" sz="1350" dirty="0"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1A490F-FF5C-4C27-8095-DCDB04F92F7D}"/>
              </a:ext>
            </a:extLst>
          </p:cNvPr>
          <p:cNvSpPr txBox="1"/>
          <p:nvPr/>
        </p:nvSpPr>
        <p:spPr>
          <a:xfrm>
            <a:off x="458885" y="3900932"/>
            <a:ext cx="3508333" cy="6924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50" b="0" i="0" kern="1200" dirty="0">
                <a:solidFill>
                  <a:schemeClr val="tx1"/>
                </a:solidFill>
                <a:effectLst/>
                <a:latin typeface="Narkisim" pitchFamily="34" charset="-79"/>
                <a:ea typeface="+mn-ea"/>
                <a:cs typeface="Narkisim" pitchFamily="34" charset="-79"/>
                <a:hlinkClick r:id="rId7"/>
              </a:rPr>
              <a:t>www.DataPlatformGeeks.com</a:t>
            </a:r>
            <a:endParaRPr lang="en-US" sz="1950" dirty="0">
              <a:latin typeface="Narkisim" pitchFamily="34" charset="-79"/>
              <a:cs typeface="Narkisim" pitchFamily="34" charset="-79"/>
            </a:endParaRPr>
          </a:p>
          <a:p>
            <a:r>
              <a:rPr lang="en-US" sz="1950" b="0" i="0" kern="1200" dirty="0">
                <a:solidFill>
                  <a:schemeClr val="tx1"/>
                </a:solidFill>
                <a:effectLst/>
                <a:latin typeface="Narkisim" pitchFamily="34" charset="-79"/>
                <a:ea typeface="+mn-ea"/>
                <a:cs typeface="Narkisim" pitchFamily="34" charset="-79"/>
                <a:hlinkClick r:id="rId8"/>
              </a:rPr>
              <a:t>www.SQLServerGeeks.com</a:t>
            </a:r>
            <a:r>
              <a:rPr lang="en-US" sz="1950" b="0" i="0" kern="1200" dirty="0">
                <a:solidFill>
                  <a:schemeClr val="tx1"/>
                </a:solidFill>
                <a:effectLst/>
                <a:latin typeface="Narkisim" pitchFamily="34" charset="-79"/>
                <a:ea typeface="+mn-ea"/>
                <a:cs typeface="Narkisim" pitchFamily="34" charset="-79"/>
              </a:rPr>
              <a:t> </a:t>
            </a:r>
            <a:endParaRPr lang="en-IN" sz="1950" b="0" dirty="0">
              <a:latin typeface="Narkisim" pitchFamily="34" charset="-79"/>
              <a:ea typeface="Segoe UI" pitchFamily="34" charset="0"/>
              <a:cs typeface="Narkisim" pitchFamily="34" charset="-79"/>
            </a:endParaRPr>
          </a:p>
        </p:txBody>
      </p:sp>
      <p:pic>
        <p:nvPicPr>
          <p:cNvPr id="6" name="Picture 2" descr="https://cdn1.iconfinder.com/data/icons/iconza-circle-social/64/697029-twitter-512.png">
            <a:extLst>
              <a:ext uri="{FF2B5EF4-FFF2-40B4-BE49-F238E27FC236}">
                <a16:creationId xmlns:a16="http://schemas.microsoft.com/office/drawing/2014/main" id="{A9CB9114-AB67-4ABA-9A15-9891313778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9724" y="4659863"/>
            <a:ext cx="303377" cy="303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5733B3A-4D9F-4446-BCE4-9B43BB343FCD}"/>
              </a:ext>
            </a:extLst>
          </p:cNvPr>
          <p:cNvSpPr txBox="1"/>
          <p:nvPr/>
        </p:nvSpPr>
        <p:spPr>
          <a:xfrm>
            <a:off x="458885" y="2198084"/>
            <a:ext cx="5848589" cy="1815882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en-US" sz="2800" dirty="0">
                <a:latin typeface="Segoe UI" pitchFamily="34" charset="0"/>
                <a:ea typeface="Segoe UI" pitchFamily="34" charset="0"/>
                <a:cs typeface="Segoe UI" pitchFamily="34" charset="0"/>
                <a:hlinkClick r:id="rId5"/>
              </a:rPr>
              <a:t>@SQLServerGeeks</a:t>
            </a:r>
            <a:r>
              <a:rPr lang="en-US" sz="2800" dirty="0">
                <a:latin typeface="Segoe UI" pitchFamily="34" charset="0"/>
                <a:ea typeface="Segoe UI" pitchFamily="34" charset="0"/>
                <a:cs typeface="Segoe UI" pitchFamily="34" charset="0"/>
              </a:rPr>
              <a:t> </a:t>
            </a:r>
          </a:p>
          <a:p>
            <a:endParaRPr lang="en-US" sz="2800" dirty="0">
              <a:latin typeface="Segoe UI" pitchFamily="34" charset="0"/>
              <a:ea typeface="Segoe UI" pitchFamily="34" charset="0"/>
              <a:cs typeface="Segoe UI" pitchFamily="34" charset="0"/>
            </a:endParaRPr>
          </a:p>
          <a:p>
            <a:r>
              <a:rPr lang="en-US" sz="2800" dirty="0">
                <a:latin typeface="Segoe UI" pitchFamily="34" charset="0"/>
                <a:cs typeface="Segoe UI" pitchFamily="34" charset="0"/>
                <a:hlinkClick r:id="rId10"/>
              </a:rPr>
              <a:t>www.YouTube.com/SQLServerGeeks</a:t>
            </a:r>
            <a:endParaRPr lang="en-US"/>
          </a:p>
          <a:p>
            <a:endParaRPr lang="en-US" sz="2800" dirty="0"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8" name="Picture 2" descr="https://cdn1.iconfinder.com/data/icons/iconza-circle-social/64/697029-twitter-512.png">
            <a:extLst>
              <a:ext uri="{FF2B5EF4-FFF2-40B4-BE49-F238E27FC236}">
                <a16:creationId xmlns:a16="http://schemas.microsoft.com/office/drawing/2014/main" id="{FA45DB9D-8F88-4B59-9F05-C1BE9F1DC5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5727" y="2060848"/>
            <a:ext cx="485925" cy="485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QLServerGeeks-Summit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C00000"/>
      </a:accent1>
      <a:accent2>
        <a:srgbClr val="0070C0"/>
      </a:accent2>
      <a:accent3>
        <a:srgbClr val="FC8604"/>
      </a:accent3>
      <a:accent4>
        <a:srgbClr val="92CDDC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1958</TotalTime>
  <Words>1205</Words>
  <Application>Microsoft Office PowerPoint</Application>
  <PresentationFormat>Custom</PresentationFormat>
  <Paragraphs>171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3" baseType="lpstr">
      <vt:lpstr>Arial</vt:lpstr>
      <vt:lpstr>Arial-BoldMT</vt:lpstr>
      <vt:lpstr>ArialMT</vt:lpstr>
      <vt:lpstr>Calibri</vt:lpstr>
      <vt:lpstr>Consolas</vt:lpstr>
      <vt:lpstr>Helvetica Neue</vt:lpstr>
      <vt:lpstr>Narkisim</vt:lpstr>
      <vt:lpstr>Segoe UI</vt:lpstr>
      <vt:lpstr>Wingdings</vt:lpstr>
      <vt:lpstr>Office Theme</vt:lpstr>
      <vt:lpstr>Feature Engineering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Demo on Feature Engineering</vt:lpstr>
      <vt:lpstr>PowerPoint Presentation</vt:lpstr>
      <vt:lpstr>Help Us Grow The Community</vt:lpstr>
      <vt:lpstr>DataPlatformGeeks (DPG) Community Join the fastest growing community of data &amp; analytics professionals</vt:lpstr>
      <vt:lpstr>PowerPoint Presentation</vt:lpstr>
      <vt:lpstr>Have Questions?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user_1</dc:creator>
  <cp:lastModifiedBy>Sandip Pani</cp:lastModifiedBy>
  <cp:revision>112</cp:revision>
  <dcterms:created xsi:type="dcterms:W3CDTF">2015-07-09T13:59:10Z</dcterms:created>
  <dcterms:modified xsi:type="dcterms:W3CDTF">2019-02-14T04:36:35Z</dcterms:modified>
</cp:coreProperties>
</file>