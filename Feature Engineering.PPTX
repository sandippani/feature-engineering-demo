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98" r:id="rId6"/>
    <p:sldId id="297" r:id="rId7"/>
    <p:sldId id="296" r:id="rId8"/>
    <p:sldId id="287" r:id="rId9"/>
    <p:sldId id="299" r:id="rId10"/>
    <p:sldId id="300" r:id="rId11"/>
    <p:sldId id="303" r:id="rId12"/>
    <p:sldId id="302" r:id="rId13"/>
    <p:sldId id="304" r:id="rId14"/>
    <p:sldId id="305" r:id="rId15"/>
    <p:sldId id="306" r:id="rId16"/>
    <p:sldId id="292" r:id="rId17"/>
    <p:sldId id="266" r:id="rId18"/>
    <p:sldId id="284" r:id="rId19"/>
    <p:sldId id="271" r:id="rId20"/>
    <p:sldId id="270" r:id="rId21"/>
    <p:sldId id="269" r:id="rId22"/>
    <p:sldId id="286" r:id="rId23"/>
    <p:sldId id="264" r:id="rId24"/>
  </p:sldIdLst>
  <p:sldSz cx="121840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0C5E5-5242-4331-BB68-8ED6AF24617E}" v="1" dt="2018-09-14T05:00:57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6659" autoAdjust="0"/>
  </p:normalViewPr>
  <p:slideViewPr>
    <p:cSldViewPr>
      <p:cViewPr varScale="1">
        <p:scale>
          <a:sx n="87" d="100"/>
          <a:sy n="87" d="100"/>
        </p:scale>
        <p:origin x="950" y="58"/>
      </p:cViewPr>
      <p:guideLst>
        <p:guide orient="horz" pos="2160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850C5E5-5242-4331-BB68-8ED6AF24617E}"/>
    <pc:docChg chg="modSld">
      <pc:chgData name="Guest User" userId="" providerId="Windows Live" clId="Web-{C850C5E5-5242-4331-BB68-8ED6AF24617E}" dt="2018-09-14T05:03:29.990" v="39" actId="20577"/>
      <pc:docMkLst>
        <pc:docMk/>
      </pc:docMkLst>
      <pc:sldChg chg="modSp">
        <pc:chgData name="Guest User" userId="" providerId="Windows Live" clId="Web-{C850C5E5-5242-4331-BB68-8ED6AF24617E}" dt="2018-09-14T05:03:29.990" v="38" actId="20577"/>
        <pc:sldMkLst>
          <pc:docMk/>
          <pc:sldMk cId="0" sldId="264"/>
        </pc:sldMkLst>
        <pc:spChg chg="mod">
          <ac:chgData name="Guest User" userId="" providerId="Windows Live" clId="Web-{C850C5E5-5242-4331-BB68-8ED6AF24617E}" dt="2018-09-14T05:03:29.990" v="38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Guest User" userId="" providerId="Windows Live" clId="Web-{C850C5E5-5242-4331-BB68-8ED6AF24617E}" dt="2018-09-14T05:02:55.771" v="23" actId="20577"/>
          <ac:spMkLst>
            <pc:docMk/>
            <pc:sldMk cId="0" sldId="264"/>
            <ac:spMk id="7" creationId="{45733B3A-4D9F-4446-BCE4-9B43BB343FCD}"/>
          </ac:spMkLst>
        </pc:spChg>
      </pc:sldChg>
      <pc:sldChg chg="addSp delSp modSp">
        <pc:chgData name="Guest User" userId="" providerId="Windows Live" clId="Web-{C850C5E5-5242-4331-BB68-8ED6AF24617E}" dt="2018-09-14T05:01:35.051" v="15" actId="1076"/>
        <pc:sldMkLst>
          <pc:docMk/>
          <pc:sldMk cId="1634922995" sldId="269"/>
        </pc:sldMkLst>
        <pc:spChg chg="del">
          <ac:chgData name="Guest User" userId="" providerId="Windows Live" clId="Web-{C850C5E5-5242-4331-BB68-8ED6AF24617E}" dt="2018-09-14T04:58:50.549" v="1" actId="1076"/>
          <ac:spMkLst>
            <pc:docMk/>
            <pc:sldMk cId="1634922995" sldId="269"/>
            <ac:spMk id="3" creationId="{00000000-0000-0000-0000-000000000000}"/>
          </ac:spMkLst>
        </pc:spChg>
        <pc:spChg chg="add del mod">
          <ac:chgData name="Guest User" userId="" providerId="Windows Live" clId="Web-{C850C5E5-5242-4331-BB68-8ED6AF24617E}" dt="2018-09-14T04:58:59.658" v="4" actId="1076"/>
          <ac:spMkLst>
            <pc:docMk/>
            <pc:sldMk cId="1634922995" sldId="269"/>
            <ac:spMk id="8" creationId="{DC7A6DA9-B684-44C0-A4D8-AADA9CA30091}"/>
          </ac:spMkLst>
        </pc:spChg>
        <pc:spChg chg="add del mod">
          <ac:chgData name="Guest User" userId="" providerId="Windows Live" clId="Web-{C850C5E5-5242-4331-BB68-8ED6AF24617E}" dt="2018-09-14T05:00:55.301" v="11" actId="1076"/>
          <ac:spMkLst>
            <pc:docMk/>
            <pc:sldMk cId="1634922995" sldId="269"/>
            <ac:spMk id="12" creationId="{009BBF09-1735-4947-B68A-7196EC03FA9A}"/>
          </ac:spMkLst>
        </pc:spChg>
        <pc:picChg chg="del mod">
          <ac:chgData name="Guest User" userId="" providerId="Windows Live" clId="Web-{C850C5E5-5242-4331-BB68-8ED6AF24617E}" dt="2018-09-14T04:58:54.065" v="3" actId="1076"/>
          <ac:picMkLst>
            <pc:docMk/>
            <pc:sldMk cId="1634922995" sldId="269"/>
            <ac:picMk id="4" creationId="{DA2F7299-A104-4C48-A2FF-314EE9BCFDEA}"/>
          </ac:picMkLst>
        </pc:picChg>
        <pc:picChg chg="add del mod ord">
          <ac:chgData name="Guest User" userId="" providerId="Windows Live" clId="Web-{C850C5E5-5242-4331-BB68-8ED6AF24617E}" dt="2018-09-14T04:58:52.299" v="2" actId="1076"/>
          <ac:picMkLst>
            <pc:docMk/>
            <pc:sldMk cId="1634922995" sldId="269"/>
            <ac:picMk id="5" creationId="{8D9FF6CC-1916-4DE0-B39A-AE3D2AB53DF2}"/>
          </ac:picMkLst>
        </pc:picChg>
        <pc:picChg chg="add del mod ord">
          <ac:chgData name="Guest User" userId="" providerId="Windows Live" clId="Web-{C850C5E5-5242-4331-BB68-8ED6AF24617E}" dt="2018-09-14T05:01:03.301" v="13" actId="1076"/>
          <ac:picMkLst>
            <pc:docMk/>
            <pc:sldMk cId="1634922995" sldId="269"/>
            <ac:picMk id="9" creationId="{F8E9C4A3-56D1-448C-8C11-0F41CAC2E133}"/>
          </ac:picMkLst>
        </pc:picChg>
        <pc:picChg chg="add del mod ord">
          <ac:chgData name="Guest User" userId="" providerId="Windows Live" clId="Web-{C850C5E5-5242-4331-BB68-8ED6AF24617E}" dt="2018-09-14T05:00:52.050" v="10" actId="1076"/>
          <ac:picMkLst>
            <pc:docMk/>
            <pc:sldMk cId="1634922995" sldId="269"/>
            <ac:picMk id="13" creationId="{E2F205C9-7EA9-42BA-B045-6FE821C85512}"/>
          </ac:picMkLst>
        </pc:picChg>
        <pc:picChg chg="add mod">
          <ac:chgData name="Guest User" userId="" providerId="Windows Live" clId="Web-{C850C5E5-5242-4331-BB68-8ED6AF24617E}" dt="2018-09-14T05:01:35.051" v="15" actId="1076"/>
          <ac:picMkLst>
            <pc:docMk/>
            <pc:sldMk cId="1634922995" sldId="269"/>
            <ac:picMk id="15" creationId="{B4D7E348-B960-4E6E-A479-2713313AF454}"/>
          </ac:picMkLst>
        </pc:picChg>
      </pc:sldChg>
      <pc:sldChg chg="addSp delSp modSp">
        <pc:chgData name="Guest User" userId="" providerId="Windows Live" clId="Web-{C850C5E5-5242-4331-BB68-8ED6AF24617E}" dt="2018-09-14T05:02:13.442" v="17" actId="20577"/>
        <pc:sldMkLst>
          <pc:docMk/>
          <pc:sldMk cId="3051867205" sldId="286"/>
        </pc:sldMkLst>
        <pc:spChg chg="del">
          <ac:chgData name="Guest User" userId="" providerId="Windows Live" clId="Web-{C850C5E5-5242-4331-BB68-8ED6AF24617E}" dt="2018-09-14T05:02:11.458" v="16" actId="20577"/>
          <ac:spMkLst>
            <pc:docMk/>
            <pc:sldMk cId="3051867205" sldId="286"/>
            <ac:spMk id="3" creationId="{00000000-0000-0000-0000-000000000000}"/>
          </ac:spMkLst>
        </pc:spChg>
        <pc:spChg chg="add del mod">
          <ac:chgData name="Guest User" userId="" providerId="Windows Live" clId="Web-{C850C5E5-5242-4331-BB68-8ED6AF24617E}" dt="2018-09-14T05:02:13.442" v="17" actId="20577"/>
          <ac:spMkLst>
            <pc:docMk/>
            <pc:sldMk cId="3051867205" sldId="286"/>
            <ac:spMk id="5" creationId="{BD0E46C4-966F-4B9A-97EC-FE5C805F4DDA}"/>
          </ac:spMkLst>
        </pc:spChg>
        <pc:picChg chg="add mod ord">
          <ac:chgData name="Guest User" userId="" providerId="Windows Live" clId="Web-{C850C5E5-5242-4331-BB68-8ED6AF24617E}" dt="2018-09-14T05:02:13.442" v="17" actId="20577"/>
          <ac:picMkLst>
            <pc:docMk/>
            <pc:sldMk cId="3051867205" sldId="286"/>
            <ac:picMk id="6" creationId="{65D82EA9-47EB-4996-9105-00472D4807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admin@DataPlatformGeeks.com?subject=Message%20from%20DPG%20Member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://www.twitter.com/SQLServerGeeks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hyperlink" Target="http://www.sqlservergeeks.com/" TargetMode="External"/><Relationship Id="rId4" Type="http://schemas.openxmlformats.org/officeDocument/2006/relationships/hyperlink" Target="http://www.dataplatformgeeks.com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7710239" y="5500702"/>
            <a:ext cx="4473824" cy="13572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712" y="285729"/>
            <a:ext cx="6377640" cy="19288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712" y="2357430"/>
            <a:ext cx="6377640" cy="1143008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380712" y="6429396"/>
            <a:ext cx="43051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Segoe UI" pitchFamily="34" charset="0"/>
                <a:ea typeface="Segoe UI" pitchFamily="34" charset="0"/>
                <a:cs typeface="Segoe UI" pitchFamily="34" charset="0"/>
                <a:hlinkClick r:id="rId2"/>
              </a:rPr>
              <a:t>@SQLServerGeeks</a:t>
            </a:r>
            <a:r>
              <a:rPr lang="en-US" sz="1350" dirty="0">
                <a:latin typeface="Segoe UI" pitchFamily="34" charset="0"/>
                <a:ea typeface="Segoe UI" pitchFamily="34" charset="0"/>
                <a:cs typeface="Segoe UI" pitchFamily="34" charset="0"/>
              </a:rPr>
              <a:t>  |  </a:t>
            </a:r>
            <a:r>
              <a:rPr lang="en-US" sz="1350" dirty="0">
                <a:latin typeface="Segoe UI" pitchFamily="34" charset="0"/>
                <a:ea typeface="Segoe UI" pitchFamily="34" charset="0"/>
                <a:cs typeface="Segoe UI" pitchFamily="34" charset="0"/>
                <a:hlinkClick r:id="rId3"/>
              </a:rPr>
              <a:t>admin@DataPlatformGeeks.com</a:t>
            </a:r>
            <a:endParaRPr lang="en-IN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80712" y="5879269"/>
            <a:ext cx="7019550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b="0" i="0" kern="1200" dirty="0">
                <a:solidFill>
                  <a:schemeClr val="tx1"/>
                </a:solidFill>
                <a:effectLst/>
                <a:latin typeface="Narkisim" pitchFamily="34" charset="-79"/>
                <a:ea typeface="+mn-ea"/>
                <a:cs typeface="Narkisim" pitchFamily="34" charset="-79"/>
                <a:hlinkClick r:id="rId4"/>
              </a:rPr>
              <a:t>www.DataPlatformGeeks.com</a:t>
            </a:r>
            <a:r>
              <a:rPr lang="en-US" sz="1950" b="0" i="0" kern="1200" dirty="0">
                <a:solidFill>
                  <a:schemeClr val="tx1"/>
                </a:solidFill>
                <a:effectLst/>
                <a:latin typeface="Narkisim" pitchFamily="34" charset="-79"/>
                <a:ea typeface="+mn-ea"/>
                <a:cs typeface="Narkisim" pitchFamily="34" charset="-79"/>
              </a:rPr>
              <a:t>  |  </a:t>
            </a:r>
            <a:r>
              <a:rPr lang="en-US" sz="1950" b="0" i="0" kern="1200" dirty="0">
                <a:solidFill>
                  <a:schemeClr val="tx1"/>
                </a:solidFill>
                <a:effectLst/>
                <a:latin typeface="Narkisim" pitchFamily="34" charset="-79"/>
                <a:ea typeface="+mn-ea"/>
                <a:cs typeface="Narkisim" pitchFamily="34" charset="-79"/>
                <a:hlinkClick r:id="rId5"/>
              </a:rPr>
              <a:t>www.SQLServerGeeks.com</a:t>
            </a:r>
            <a:r>
              <a:rPr lang="en-US" sz="1950" b="0" i="0" kern="1200" dirty="0">
                <a:solidFill>
                  <a:schemeClr val="tx1"/>
                </a:solidFill>
                <a:effectLst/>
                <a:latin typeface="Narkisim" pitchFamily="34" charset="-79"/>
                <a:ea typeface="+mn-ea"/>
                <a:cs typeface="Narkisim" pitchFamily="34" charset="-79"/>
              </a:rPr>
              <a:t> </a:t>
            </a:r>
            <a:endParaRPr lang="en-IN" sz="1950" b="0" dirty="0">
              <a:latin typeface="Narkisim" pitchFamily="34" charset="-79"/>
              <a:ea typeface="Segoe UI" pitchFamily="34" charset="0"/>
              <a:cs typeface="Narkisim" pitchFamily="34" charset="-79"/>
            </a:endParaRP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475901" y="6357958"/>
            <a:ext cx="685358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C:\Users\user_1\Desktop\12.png"/>
          <p:cNvPicPr>
            <a:picLocks noChangeAspect="1" noChangeArrowheads="1"/>
          </p:cNvPicPr>
          <p:nvPr userDrawn="1"/>
        </p:nvPicPr>
        <p:blipFill>
          <a:blip r:embed="rId6" cstate="print"/>
          <a:srcRect r="77"/>
          <a:stretch>
            <a:fillRect/>
          </a:stretch>
        </p:blipFill>
        <p:spPr bwMode="auto">
          <a:xfrm>
            <a:off x="7183403" y="-331"/>
            <a:ext cx="5000660" cy="685833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DBBB18-2A8F-429E-9136-6D77330DDBC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24" y="5201529"/>
            <a:ext cx="3376651" cy="626593"/>
          </a:xfrm>
          <a:prstGeom prst="rect">
            <a:avLst/>
          </a:prstGeom>
        </p:spPr>
      </p:pic>
      <p:pic>
        <p:nvPicPr>
          <p:cNvPr id="14" name="Picture 2" descr="https://cdn1.iconfinder.com/data/icons/iconza-circle-social/64/697029-twitter-512.png">
            <a:extLst>
              <a:ext uri="{FF2B5EF4-FFF2-40B4-BE49-F238E27FC236}">
                <a16:creationId xmlns:a16="http://schemas.microsoft.com/office/drawing/2014/main" id="{A5429F9F-6B5A-4E42-B6CE-7F38C1DE01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551" y="6277707"/>
            <a:ext cx="303377" cy="303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ding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203" y="1600201"/>
            <a:ext cx="10908582" cy="45259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defRPr>
            </a:lvl3pPr>
            <a:lvl4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defRPr>
            </a:lvl4pPr>
            <a:lvl5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457" y="1142985"/>
            <a:ext cx="10356454" cy="1362075"/>
          </a:xfrm>
        </p:spPr>
        <p:txBody>
          <a:bodyPr anchor="b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457" y="2500307"/>
            <a:ext cx="10356454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457" y="1142985"/>
            <a:ext cx="10356454" cy="1362075"/>
          </a:xfrm>
        </p:spPr>
        <p:txBody>
          <a:bodyPr anchor="b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457" y="2500307"/>
            <a:ext cx="10356454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457" y="1142985"/>
            <a:ext cx="10356454" cy="1362075"/>
          </a:xfrm>
        </p:spPr>
        <p:txBody>
          <a:bodyPr anchor="b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457" y="2500307"/>
            <a:ext cx="10356454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_1\Desktop\44.png"/>
          <p:cNvPicPr>
            <a:picLocks noChangeAspect="1" noChangeArrowheads="1"/>
          </p:cNvPicPr>
          <p:nvPr userDrawn="1"/>
        </p:nvPicPr>
        <p:blipFill>
          <a:blip r:embed="rId2" cstate="print"/>
          <a:srcRect l="21503"/>
          <a:stretch>
            <a:fillRect/>
          </a:stretch>
        </p:blipFill>
        <p:spPr bwMode="auto">
          <a:xfrm>
            <a:off x="0" y="642919"/>
            <a:ext cx="4695138" cy="2348459"/>
          </a:xfrm>
          <a:prstGeom prst="rect">
            <a:avLst/>
          </a:prstGeom>
          <a:noFill/>
        </p:spPr>
      </p:pic>
      <p:sp>
        <p:nvSpPr>
          <p:cNvPr id="5" name="Rounded Rectangle 4"/>
          <p:cNvSpPr/>
          <p:nvPr userDrawn="1"/>
        </p:nvSpPr>
        <p:spPr>
          <a:xfrm>
            <a:off x="3617126" y="1285860"/>
            <a:ext cx="7234338" cy="4643470"/>
          </a:xfrm>
          <a:prstGeom prst="roundRect">
            <a:avLst>
              <a:gd name="adj" fmla="val 767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07504" y="1428737"/>
            <a:ext cx="6853583" cy="1362075"/>
          </a:xfrm>
        </p:spPr>
        <p:txBody>
          <a:bodyPr anchor="b"/>
          <a:lstStyle>
            <a:lvl1pPr algn="l">
              <a:defRPr sz="4000" b="1" cap="none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07504" y="2928935"/>
            <a:ext cx="6853583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495" y="2928934"/>
            <a:ext cx="15808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Video</a:t>
            </a:r>
            <a:endParaRPr lang="en-IN" sz="40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_1\Desktop\55.png"/>
          <p:cNvPicPr>
            <a:picLocks noChangeAspect="1" noChangeArrowheads="1"/>
          </p:cNvPicPr>
          <p:nvPr userDrawn="1"/>
        </p:nvPicPr>
        <p:blipFill>
          <a:blip r:embed="rId2" cstate="print"/>
          <a:srcRect l="21503"/>
          <a:stretch>
            <a:fillRect/>
          </a:stretch>
        </p:blipFill>
        <p:spPr bwMode="auto">
          <a:xfrm>
            <a:off x="1" y="642919"/>
            <a:ext cx="4695138" cy="2348459"/>
          </a:xfrm>
          <a:prstGeom prst="rect">
            <a:avLst/>
          </a:prstGeom>
          <a:noFill/>
        </p:spPr>
      </p:pic>
      <p:sp>
        <p:nvSpPr>
          <p:cNvPr id="5" name="Rounded Rectangle 4"/>
          <p:cNvSpPr/>
          <p:nvPr userDrawn="1"/>
        </p:nvSpPr>
        <p:spPr>
          <a:xfrm>
            <a:off x="3617126" y="1285860"/>
            <a:ext cx="7234338" cy="4643470"/>
          </a:xfrm>
          <a:prstGeom prst="roundRect">
            <a:avLst>
              <a:gd name="adj" fmla="val 767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07504" y="1428737"/>
            <a:ext cx="6853583" cy="1362075"/>
          </a:xfrm>
        </p:spPr>
        <p:txBody>
          <a:bodyPr anchor="b"/>
          <a:lstStyle>
            <a:lvl1pPr algn="l">
              <a:defRPr sz="4000" b="1" cap="none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07504" y="2928935"/>
            <a:ext cx="6853583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77057" y="2928934"/>
            <a:ext cx="1624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Demo</a:t>
            </a:r>
            <a:endParaRPr lang="en-IN" sz="40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203" y="1600201"/>
            <a:ext cx="538129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66" y="1600201"/>
            <a:ext cx="538129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203" y="1535113"/>
            <a:ext cx="53834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203" y="2174875"/>
            <a:ext cx="53834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335" y="1535113"/>
            <a:ext cx="53855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335" y="2174875"/>
            <a:ext cx="53855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204" y="273050"/>
            <a:ext cx="400847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3630" y="273051"/>
            <a:ext cx="68112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204" y="1435101"/>
            <a:ext cx="400847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162" y="4800600"/>
            <a:ext cx="731043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8162" y="612775"/>
            <a:ext cx="731043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8162" y="5367338"/>
            <a:ext cx="731043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3446" y="274639"/>
            <a:ext cx="27414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203" y="274639"/>
            <a:ext cx="802117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5591965" y="3786190"/>
            <a:ext cx="6592098" cy="3071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8969386" y="4214819"/>
            <a:ext cx="3214678" cy="2643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2" descr="C:\Users\user_1\Desktop\66.png"/>
          <p:cNvPicPr>
            <a:picLocks noChangeAspect="1" noChangeArrowheads="1"/>
          </p:cNvPicPr>
          <p:nvPr userDrawn="1"/>
        </p:nvPicPr>
        <p:blipFill>
          <a:blip r:embed="rId2" cstate="screen"/>
          <a:srcRect r="44118"/>
          <a:stretch>
            <a:fillRect/>
          </a:stretch>
        </p:blipFill>
        <p:spPr bwMode="auto">
          <a:xfrm rot="5400000">
            <a:off x="7102606" y="1776543"/>
            <a:ext cx="3786190" cy="637672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428596" y="428604"/>
            <a:ext cx="842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A Big Thanks to Our Sponsors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5591965" y="3786190"/>
            <a:ext cx="6592098" cy="3071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 descr="C:\Users\user_1\Desktop\66.png"/>
          <p:cNvPicPr>
            <a:picLocks noChangeAspect="1" noChangeArrowheads="1"/>
          </p:cNvPicPr>
          <p:nvPr userDrawn="1"/>
        </p:nvPicPr>
        <p:blipFill>
          <a:blip r:embed="rId2" cstate="screen"/>
          <a:srcRect b="18602"/>
          <a:stretch>
            <a:fillRect/>
          </a:stretch>
        </p:blipFill>
        <p:spPr bwMode="auto">
          <a:xfrm>
            <a:off x="3234511" y="-1"/>
            <a:ext cx="8949553" cy="6858001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 userDrawn="1"/>
        </p:nvSpPr>
        <p:spPr>
          <a:xfrm>
            <a:off x="430238" y="620688"/>
            <a:ext cx="388388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accent1"/>
                </a:solidFill>
              </a:rPr>
              <a:t>Thank you </a:t>
            </a:r>
          </a:p>
          <a:p>
            <a:r>
              <a:rPr lang="en-US" sz="5000" b="1" dirty="0">
                <a:solidFill>
                  <a:schemeClr val="accent1"/>
                </a:solidFill>
              </a:rPr>
              <a:t>for your time!</a:t>
            </a:r>
            <a:endParaRPr lang="en-IN" sz="50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_1\Desktop\33.png"/>
          <p:cNvPicPr>
            <a:picLocks noChangeAspect="1" noChangeArrowheads="1"/>
          </p:cNvPicPr>
          <p:nvPr userDrawn="1"/>
        </p:nvPicPr>
        <p:blipFill>
          <a:blip r:embed="rId20" cstate="print"/>
          <a:stretch>
            <a:fillRect/>
          </a:stretch>
        </p:blipFill>
        <p:spPr bwMode="auto">
          <a:xfrm>
            <a:off x="9120675" y="5556251"/>
            <a:ext cx="3063388" cy="1301005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203" y="274638"/>
            <a:ext cx="11003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203" y="1600201"/>
            <a:ext cx="109656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61" r:id="rId4"/>
    <p:sldLayoutId id="2147483660" r:id="rId5"/>
    <p:sldLayoutId id="2147483662" r:id="rId6"/>
    <p:sldLayoutId id="2147483651" r:id="rId7"/>
    <p:sldLayoutId id="2147483665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4" r:id="rId17"/>
    <p:sldLayoutId id="2147483666" r:id="rId18"/>
  </p:sldLayoutIdLst>
  <p:txStyles>
    <p:titleStyle>
      <a:lvl1pPr algn="l" defTabSz="914400" rtl="0" eaLnBrk="1" latinLnBrk="0" hangingPunct="1">
        <a:spcBef>
          <a:spcPct val="0"/>
        </a:spcBef>
        <a:buNone/>
        <a:defRPr sz="3800" kern="1200">
          <a:solidFill>
            <a:srgbClr val="C00000"/>
          </a:solidFill>
          <a:latin typeface="Segoe UI" pitchFamily="34" charset="0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>
              <a:lumMod val="85000"/>
              <a:lumOff val="15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85000"/>
              <a:lumOff val="15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>
              <a:lumMod val="85000"/>
              <a:lumOff val="15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>
              <a:lumMod val="85000"/>
              <a:lumOff val="15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qlservergeeks.com/author/sandippan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platformgeeks.com/" TargetMode="External"/><Relationship Id="rId2" Type="http://schemas.openxmlformats.org/officeDocument/2006/relationships/hyperlink" Target="http://www.facebook.com/groups/theSQLGeek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qlservergeeks.com/" TargetMode="External"/><Relationship Id="rId2" Type="http://schemas.openxmlformats.org/officeDocument/2006/relationships/hyperlink" Target="http://www.dataplatformgeeks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qlservergeeks.com/" TargetMode="External"/><Relationship Id="rId3" Type="http://schemas.openxmlformats.org/officeDocument/2006/relationships/hyperlink" Target="http://facebook.com/groups/theSQLGeeks" TargetMode="External"/><Relationship Id="rId7" Type="http://schemas.openxmlformats.org/officeDocument/2006/relationships/hyperlink" Target="http://www.dataplatformgeeks.com/" TargetMode="External"/><Relationship Id="rId2" Type="http://schemas.openxmlformats.org/officeDocument/2006/relationships/hyperlink" Target="http://facebook.com/SQLServerGeeks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mailto:admin@DataPlatformGeeks.com?subject=Message%20from%20DPG%20Member" TargetMode="External"/><Relationship Id="rId5" Type="http://schemas.openxmlformats.org/officeDocument/2006/relationships/hyperlink" Target="http://www.twitter.com/SQLServerGeeks" TargetMode="External"/><Relationship Id="rId10" Type="http://schemas.openxmlformats.org/officeDocument/2006/relationships/hyperlink" Target="http://www.youtube.com/SQLServerGeeks" TargetMode="External"/><Relationship Id="rId4" Type="http://schemas.openxmlformats.org/officeDocument/2006/relationships/hyperlink" Target="http://www.dataplatformgeeks.com/dpg-mobile/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Feature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712" y="2357430"/>
            <a:ext cx="6377640" cy="1143008"/>
          </a:xfrm>
        </p:spPr>
        <p:txBody>
          <a:bodyPr/>
          <a:lstStyle/>
          <a:p>
            <a:r>
              <a:rPr lang="en-IN" dirty="0"/>
              <a:t>Sandip Pani</a:t>
            </a:r>
          </a:p>
          <a:p>
            <a:endParaRPr lang="en-IN" dirty="0"/>
          </a:p>
        </p:txBody>
      </p:sp>
      <p:sp>
        <p:nvSpPr>
          <p:cNvPr id="4" name="Subtitle 5"/>
          <p:cNvSpPr txBox="1">
            <a:spLocks/>
          </p:cNvSpPr>
          <p:nvPr/>
        </p:nvSpPr>
        <p:spPr>
          <a:xfrm>
            <a:off x="380713" y="3214686"/>
            <a:ext cx="4569056" cy="86238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ts val="28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2400" kern="120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lnSpc>
                <a:spcPts val="2500"/>
              </a:lnSpc>
              <a:spcBef>
                <a:spcPts val="200"/>
              </a:spcBef>
              <a:spcAft>
                <a:spcPts val="20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SzPct val="100000"/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42913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Senior Staff Engineer (Sr. Data Architect)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75900" y="3071811"/>
            <a:ext cx="4569056" cy="75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1025" y="1611714"/>
            <a:ext cx="10794168" cy="3539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 work for NextGen HealthCare ( Sr. Data Architect)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DataPlatformGeeks </a:t>
            </a:r>
            <a:r>
              <a:rPr lang="en-IN" sz="2000" dirty="0"/>
              <a:t>Regional Mentor &amp; UG Lead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12+ years of experience on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AI/ML Enthusiast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Speaker at global conferences (</a:t>
            </a:r>
            <a:r>
              <a:rPr lang="en-US" sz="2000" dirty="0" err="1"/>
              <a:t>SQLBits</a:t>
            </a:r>
            <a:r>
              <a:rPr lang="en-US" sz="2000" dirty="0"/>
              <a:t> – 2013, </a:t>
            </a:r>
            <a:r>
              <a:rPr lang="en-US" sz="2000" dirty="0" err="1"/>
              <a:t>Notingham</a:t>
            </a:r>
            <a:r>
              <a:rPr lang="en-US" sz="2000" dirty="0"/>
              <a:t>, UK and 2015, London), SSGAS 2016, DPS 2017 , DPS 2018, Meet-Ups and Local User Groups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MCTS, MCITP: Admin, BI &amp; Developer certification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Specialized in Query Tuning and Performance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Passionate about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Blogger (</a:t>
            </a:r>
            <a:r>
              <a:rPr lang="en-IN" sz="2000" dirty="0">
                <a:hlinkClick r:id="rId2"/>
              </a:rPr>
              <a:t>http://www.sqlservergeeks.com/author/sandippani/</a:t>
            </a:r>
            <a:r>
              <a:rPr lang="en-IN" sz="2000" dirty="0"/>
              <a:t>)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endParaRPr lang="en-US" sz="2398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1025" y="646282"/>
            <a:ext cx="5287588" cy="46673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96"/>
              <a:t>Sandip Pani</a:t>
            </a:r>
            <a:endParaRPr lang="en-US" sz="5396" dirty="0"/>
          </a:p>
        </p:txBody>
      </p:sp>
    </p:spTree>
    <p:extLst>
      <p:ext uri="{BB962C8B-B14F-4D97-AF65-F5344CB8AC3E}">
        <p14:creationId xmlns:p14="http://schemas.microsoft.com/office/powerpoint/2010/main" val="1265875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4483" y="1541494"/>
            <a:ext cx="8747760" cy="3014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3198" dirty="0">
                <a:solidFill>
                  <a:srgbClr val="000000"/>
                </a:solidFill>
                <a:latin typeface="Arial" panose="020B0604020202020204" pitchFamily="34" charset="0"/>
              </a:rPr>
              <a:t>Introduction to Feature Engineering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3198" dirty="0">
                <a:solidFill>
                  <a:srgbClr val="000000"/>
                </a:solidFill>
                <a:latin typeface="Arial" panose="020B0604020202020204" pitchFamily="34" charset="0"/>
              </a:rPr>
              <a:t>Feature Types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3198" dirty="0">
                <a:solidFill>
                  <a:srgbClr val="000000"/>
                </a:solidFill>
                <a:latin typeface="Arial" panose="020B0604020202020204" pitchFamily="34" charset="0"/>
              </a:rPr>
              <a:t>Problems with feature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3198" dirty="0">
                <a:solidFill>
                  <a:srgbClr val="000000"/>
                </a:solidFill>
                <a:latin typeface="Arial" panose="020B0604020202020204" pitchFamily="34" charset="0"/>
              </a:rPr>
              <a:t>Feature Engineering Techniques 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3198" dirty="0">
                <a:solidFill>
                  <a:srgbClr val="000000"/>
                </a:solidFill>
                <a:latin typeface="Arial" panose="020B0604020202020204" pitchFamily="34" charset="0"/>
              </a:rPr>
              <a:t>Demo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451" y="556185"/>
            <a:ext cx="5287588" cy="5898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96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635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96" dirty="0"/>
              <a:t>What is feature engineering?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3100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dirty="0"/>
              <a:t>The problem of transforming raw data into a dataset is called feature engineering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dirty="0"/>
              <a:t>Transferring data to create model input is called feature engineering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dirty="0"/>
              <a:t>Raw data-&gt; data cleaning -&gt;feature engineering -&gt;model building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dirty="0"/>
              <a:t>In most model data science application we start with lots of data, and care more on prediction than </a:t>
            </a:r>
            <a:r>
              <a:rPr lang="en-US" sz="4000" b="1" dirty="0"/>
              <a:t>explanation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dirty="0"/>
              <a:t>Too much feature engineering can lead to overfitting</a:t>
            </a:r>
          </a:p>
          <a:p>
            <a:pPr>
              <a:spcAft>
                <a:spcPts val="898"/>
              </a:spcAft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80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b="1" dirty="0"/>
              <a:t>Importance of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2369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dirty="0"/>
              <a:t> Features directly influence the predictive models we use and the results we can achieve.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Flexibility</a:t>
            </a:r>
            <a:r>
              <a:rPr lang="en-US" dirty="0"/>
              <a:t>: good features will allow you to use less complex models that are faster to run, easier to understand and easier to maintain. This is very desirable.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Simpler models: </a:t>
            </a:r>
            <a:r>
              <a:rPr lang="en-US" dirty="0"/>
              <a:t>You do not need to work as hard to pick the right models and the most optimized parameters.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Better features </a:t>
            </a:r>
            <a:r>
              <a:rPr lang="en-US" dirty="0"/>
              <a:t>-&gt; better result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1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96" dirty="0"/>
              <a:t>What people says about FE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52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816AE9-51B3-4442-A845-00CAF9993AF9}"/>
              </a:ext>
            </a:extLst>
          </p:cNvPr>
          <p:cNvSpPr/>
          <p:nvPr/>
        </p:nvSpPr>
        <p:spPr>
          <a:xfrm>
            <a:off x="551025" y="1299115"/>
            <a:ext cx="90693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Actually the success of all Machine Learning algorithms depends on how you present the data. By Mohammad </a:t>
            </a:r>
            <a:r>
              <a:rPr lang="en-US" dirty="0" err="1"/>
              <a:t>Pezeshki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6AF3D7-0148-47BE-B809-4552823DA1A8}"/>
              </a:ext>
            </a:extLst>
          </p:cNvPr>
          <p:cNvSpPr/>
          <p:nvPr/>
        </p:nvSpPr>
        <p:spPr>
          <a:xfrm>
            <a:off x="551025" y="2276872"/>
            <a:ext cx="111576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algorithms we used are very standard for </a:t>
            </a:r>
            <a:r>
              <a:rPr lang="en-US" dirty="0" err="1"/>
              <a:t>Kagglers</a:t>
            </a:r>
            <a:r>
              <a:rPr lang="en-US" dirty="0"/>
              <a:t>. […]  We spent most of our efforts in feature engineering. Xavier </a:t>
            </a:r>
            <a:r>
              <a:rPr lang="en-US" dirty="0" err="1"/>
              <a:t>Conort</a:t>
            </a:r>
            <a:r>
              <a:rPr lang="en-US" dirty="0"/>
              <a:t>, on winning the Flight Quest challenge on Kaggle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2116F-D638-4A06-A6D7-9ACD712EA7CA}"/>
              </a:ext>
            </a:extLst>
          </p:cNvPr>
          <p:cNvSpPr/>
          <p:nvPr/>
        </p:nvSpPr>
        <p:spPr>
          <a:xfrm>
            <a:off x="540967" y="3288467"/>
            <a:ext cx="87914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 have to turn your inputs into things the algorithm can understand by Shayne </a:t>
            </a:r>
            <a:r>
              <a:rPr lang="en-US" dirty="0" err="1"/>
              <a:t>Miel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48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96" dirty="0"/>
              <a:t>Key things to know about ML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1614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Feature: Numeric representation of raw data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Model : </a:t>
            </a:r>
            <a:r>
              <a:rPr lang="en-US" sz="2798" dirty="0" err="1">
                <a:solidFill>
                  <a:srgbClr val="000000"/>
                </a:solidFill>
                <a:latin typeface="Arial" panose="020B0604020202020204" pitchFamily="34" charset="0"/>
              </a:rPr>
              <a:t>Mathematiocal</a:t>
            </a: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 summary of features</a:t>
            </a:r>
          </a:p>
          <a:p>
            <a:pPr marL="256968" indent="-256968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Chose the right model and features given data and task</a:t>
            </a:r>
          </a:p>
        </p:txBody>
      </p:sp>
    </p:spTree>
    <p:extLst>
      <p:ext uri="{BB962C8B-B14F-4D97-AF65-F5344CB8AC3E}">
        <p14:creationId xmlns:p14="http://schemas.microsoft.com/office/powerpoint/2010/main" val="348942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96" dirty="0"/>
              <a:t>Data 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7A83E5-B331-445F-B963-9A67B944A7B5}"/>
              </a:ext>
            </a:extLst>
          </p:cNvPr>
          <p:cNvSpPr/>
          <p:nvPr/>
        </p:nvSpPr>
        <p:spPr>
          <a:xfrm>
            <a:off x="1568563" y="1340768"/>
            <a:ext cx="2520280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Numerica</a:t>
            </a:r>
            <a:r>
              <a:rPr lang="en-US" dirty="0"/>
              <a:t>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3D157-1B80-4195-AB87-A44D310502D2}"/>
              </a:ext>
            </a:extLst>
          </p:cNvPr>
          <p:cNvSpPr/>
          <p:nvPr/>
        </p:nvSpPr>
        <p:spPr>
          <a:xfrm>
            <a:off x="8043885" y="1268760"/>
            <a:ext cx="2520280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Categorical(</a:t>
            </a:r>
            <a:r>
              <a:rPr lang="en-US" dirty="0"/>
              <a:t>labels)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53748E-0E6F-47C6-A078-06BDD7EFF5BB}"/>
              </a:ext>
            </a:extLst>
          </p:cNvPr>
          <p:cNvSpPr/>
          <p:nvPr/>
        </p:nvSpPr>
        <p:spPr>
          <a:xfrm>
            <a:off x="308423" y="2636912"/>
            <a:ext cx="1751160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Discrete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9C2FE6-FE78-471D-A428-015C43156D85}"/>
              </a:ext>
            </a:extLst>
          </p:cNvPr>
          <p:cNvSpPr/>
          <p:nvPr/>
        </p:nvSpPr>
        <p:spPr>
          <a:xfrm>
            <a:off x="3571751" y="2654914"/>
            <a:ext cx="1872208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Continuous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90551D-3B03-4208-9705-B59476992478}"/>
              </a:ext>
            </a:extLst>
          </p:cNvPr>
          <p:cNvCxnSpPr>
            <a:stCxn id="2" idx="2"/>
          </p:cNvCxnSpPr>
          <p:nvPr/>
        </p:nvCxnSpPr>
        <p:spPr>
          <a:xfrm flipH="1">
            <a:off x="1843559" y="1988840"/>
            <a:ext cx="985144" cy="648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199BEC-7C1D-40BC-A039-1E9EF8E79182}"/>
              </a:ext>
            </a:extLst>
          </p:cNvPr>
          <p:cNvCxnSpPr>
            <a:cxnSpLocks/>
          </p:cNvCxnSpPr>
          <p:nvPr/>
        </p:nvCxnSpPr>
        <p:spPr>
          <a:xfrm>
            <a:off x="3211711" y="2006842"/>
            <a:ext cx="1152128" cy="6300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61C5078-B2B8-41FE-B575-4F7941C6FBFC}"/>
              </a:ext>
            </a:extLst>
          </p:cNvPr>
          <p:cNvSpPr/>
          <p:nvPr/>
        </p:nvSpPr>
        <p:spPr>
          <a:xfrm>
            <a:off x="183824" y="3469205"/>
            <a:ext cx="21523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MT"/>
              </a:rPr>
              <a:t>There’s a </a:t>
            </a:r>
            <a:r>
              <a:rPr lang="en-US" b="1" dirty="0">
                <a:latin typeface="Arial-BoldMT"/>
              </a:rPr>
              <a:t>fixed number </a:t>
            </a:r>
            <a:r>
              <a:rPr lang="en-US" dirty="0">
                <a:latin typeface="ArialMT"/>
              </a:rPr>
              <a:t>of integer</a:t>
            </a:r>
          </a:p>
          <a:p>
            <a:r>
              <a:rPr lang="en-US" dirty="0">
                <a:latin typeface="ArialMT"/>
              </a:rPr>
              <a:t>Values.</a:t>
            </a:r>
          </a:p>
          <a:p>
            <a:r>
              <a:rPr lang="en-US" dirty="0">
                <a:latin typeface="ArialMT"/>
              </a:rPr>
              <a:t>Ex. </a:t>
            </a:r>
            <a:r>
              <a:rPr lang="en-US" b="1" dirty="0">
                <a:latin typeface="ArialMT"/>
              </a:rPr>
              <a:t>Number of house you have.</a:t>
            </a:r>
          </a:p>
          <a:p>
            <a:r>
              <a:rPr lang="en-US" b="1" dirty="0">
                <a:latin typeface="ArialMT"/>
              </a:rPr>
              <a:t>Number of family members etc.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8CED28-05FF-4B20-BA8B-1A86049F3E64}"/>
              </a:ext>
            </a:extLst>
          </p:cNvPr>
          <p:cNvSpPr/>
          <p:nvPr/>
        </p:nvSpPr>
        <p:spPr>
          <a:xfrm>
            <a:off x="3451490" y="3371526"/>
            <a:ext cx="23762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MT"/>
              </a:rPr>
              <a:t>It can take an </a:t>
            </a:r>
            <a:r>
              <a:rPr lang="en-US" b="1" dirty="0">
                <a:latin typeface="Arial-BoldMT"/>
              </a:rPr>
              <a:t>infinite number </a:t>
            </a:r>
            <a:r>
              <a:rPr lang="en-US" dirty="0">
                <a:latin typeface="ArialMT"/>
              </a:rPr>
              <a:t>of</a:t>
            </a:r>
          </a:p>
          <a:p>
            <a:r>
              <a:rPr lang="en-US" dirty="0">
                <a:latin typeface="ArialMT"/>
              </a:rPr>
              <a:t>Values. </a:t>
            </a:r>
          </a:p>
          <a:p>
            <a:r>
              <a:rPr lang="en-US" b="1" dirty="0">
                <a:latin typeface="ArialMT"/>
              </a:rPr>
              <a:t>Ex. House price, Temperature etc.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622889-8783-4F32-8018-1C323159798A}"/>
              </a:ext>
            </a:extLst>
          </p:cNvPr>
          <p:cNvSpPr/>
          <p:nvPr/>
        </p:nvSpPr>
        <p:spPr>
          <a:xfrm>
            <a:off x="6933159" y="2636912"/>
            <a:ext cx="1751160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Nominal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13E644-1BB4-400A-8B14-F2A4B2FA9DFB}"/>
              </a:ext>
            </a:extLst>
          </p:cNvPr>
          <p:cNvSpPr/>
          <p:nvPr/>
        </p:nvSpPr>
        <p:spPr>
          <a:xfrm>
            <a:off x="9476407" y="2636912"/>
            <a:ext cx="1751160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Ordinal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E116CD-B59C-4DC3-AA33-9A7BE056FA6C}"/>
              </a:ext>
            </a:extLst>
          </p:cNvPr>
          <p:cNvCxnSpPr>
            <a:cxnSpLocks/>
          </p:cNvCxnSpPr>
          <p:nvPr/>
        </p:nvCxnSpPr>
        <p:spPr>
          <a:xfrm flipH="1">
            <a:off x="8043885" y="1916832"/>
            <a:ext cx="856458" cy="7020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B6A92C-3B3B-4D26-A7C6-F1B3AAF8704C}"/>
              </a:ext>
            </a:extLst>
          </p:cNvPr>
          <p:cNvCxnSpPr>
            <a:cxnSpLocks/>
          </p:cNvCxnSpPr>
          <p:nvPr/>
        </p:nvCxnSpPr>
        <p:spPr>
          <a:xfrm>
            <a:off x="9338203" y="1927738"/>
            <a:ext cx="1013784" cy="7091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A079195-0B40-469E-92DF-ED32CD93A08E}"/>
              </a:ext>
            </a:extLst>
          </p:cNvPr>
          <p:cNvSpPr/>
          <p:nvPr/>
        </p:nvSpPr>
        <p:spPr>
          <a:xfrm>
            <a:off x="6800270" y="3368024"/>
            <a:ext cx="188404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MT"/>
              </a:rPr>
              <a:t>You can brand it and order is </a:t>
            </a:r>
            <a:r>
              <a:rPr lang="en-US" b="1" dirty="0">
                <a:latin typeface="ArialMT"/>
              </a:rPr>
              <a:t>not important</a:t>
            </a:r>
            <a:r>
              <a:rPr lang="en-US" dirty="0">
                <a:latin typeface="ArialMT"/>
              </a:rPr>
              <a:t>. Mean median are meaning less</a:t>
            </a:r>
          </a:p>
          <a:p>
            <a:r>
              <a:rPr lang="en-US" b="1" dirty="0">
                <a:latin typeface="Arial-BoldMT"/>
              </a:rPr>
              <a:t>Ex. Nationality, Gender, Color Type</a:t>
            </a:r>
            <a:endParaRPr lang="en-US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1A0F5F-E06E-4212-8EC2-638A0F63B76F}"/>
              </a:ext>
            </a:extLst>
          </p:cNvPr>
          <p:cNvSpPr/>
          <p:nvPr/>
        </p:nvSpPr>
        <p:spPr>
          <a:xfrm>
            <a:off x="9304026" y="3356992"/>
            <a:ext cx="21165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MT"/>
              </a:rPr>
              <a:t>If you can </a:t>
            </a:r>
            <a:r>
              <a:rPr lang="en-US" b="1" dirty="0">
                <a:latin typeface="Arial-BoldMT"/>
              </a:rPr>
              <a:t>order it </a:t>
            </a:r>
            <a:r>
              <a:rPr lang="en-US" dirty="0">
                <a:latin typeface="ArialMT"/>
              </a:rPr>
              <a:t>or </a:t>
            </a:r>
            <a:r>
              <a:rPr lang="en-US" b="1" dirty="0">
                <a:latin typeface="Arial-BoldMT"/>
              </a:rPr>
              <a:t>rank it. </a:t>
            </a:r>
            <a:r>
              <a:rPr lang="en-US" dirty="0"/>
              <a:t>Ordinal data are discrete integers that can be ranked or sorted.</a:t>
            </a:r>
          </a:p>
          <a:p>
            <a:r>
              <a:rPr lang="en-US" b="1" dirty="0">
                <a:latin typeface="Arial-BoldMT"/>
              </a:rPr>
              <a:t>Ex. Designation, Class</a:t>
            </a:r>
          </a:p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C5F426-4E3F-479B-A30F-40F2ED02BFFA}"/>
              </a:ext>
            </a:extLst>
          </p:cNvPr>
          <p:cNvSpPr/>
          <p:nvPr/>
        </p:nvSpPr>
        <p:spPr>
          <a:xfrm>
            <a:off x="551025" y="5876997"/>
            <a:ext cx="102935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Recommended reading :http://bit.ly/</a:t>
            </a:r>
            <a:r>
              <a:rPr lang="en-US" dirty="0" err="1"/>
              <a:t>datatypesML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5665E6-1F63-4CD2-853B-16BAC8071150}"/>
              </a:ext>
            </a:extLst>
          </p:cNvPr>
          <p:cNvSpPr/>
          <p:nvPr/>
        </p:nvSpPr>
        <p:spPr>
          <a:xfrm>
            <a:off x="4639622" y="1297497"/>
            <a:ext cx="2520280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Datetime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12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Problem with 	features</a:t>
            </a:r>
            <a:endParaRPr lang="en-US" sz="53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4828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8" b="1" dirty="0">
                <a:solidFill>
                  <a:srgbClr val="000000"/>
                </a:solidFill>
                <a:latin typeface="Arial" panose="020B0604020202020204" pitchFamily="34" charset="0"/>
              </a:rPr>
              <a:t>Missing Data </a:t>
            </a: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/>
              <a:t>MCAR, MAR, MNAR)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798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8" b="1" dirty="0">
                <a:solidFill>
                  <a:srgbClr val="000000"/>
                </a:solidFill>
                <a:latin typeface="Arial" panose="020B0604020202020204" pitchFamily="34" charset="0"/>
              </a:rPr>
              <a:t>Labels Cardinality:</a:t>
            </a:r>
            <a:r>
              <a:rPr lang="en-US" dirty="0"/>
              <a:t>	</a:t>
            </a: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Variables with too many labels tend to dominate over those with only a few labels, particularly in Tree based algorithms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8" b="1" dirty="0">
                <a:solidFill>
                  <a:srgbClr val="000000"/>
                </a:solidFill>
                <a:latin typeface="Arial" panose="020B0604020202020204" pitchFamily="34" charset="0"/>
              </a:rPr>
              <a:t>Labels Infrequent categories</a:t>
            </a: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: present in training set but not in test set or present in test set not in train set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98" b="1" dirty="0">
                <a:solidFill>
                  <a:srgbClr val="000000"/>
                </a:solidFill>
                <a:latin typeface="Arial" panose="020B0604020202020204" pitchFamily="34" charset="0"/>
              </a:rPr>
              <a:t>Outliers Unusual or unexpected values</a:t>
            </a: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: Affect some algorithms and some algorithms are not impacted</a:t>
            </a:r>
          </a:p>
        </p:txBody>
      </p:sp>
    </p:spTree>
    <p:extLst>
      <p:ext uri="{BB962C8B-B14F-4D97-AF65-F5344CB8AC3E}">
        <p14:creationId xmlns:p14="http://schemas.microsoft.com/office/powerpoint/2010/main" val="307250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Missing Data Mechanisms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52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6D75A-55CB-40A5-84AC-42E3E4793DDB}"/>
              </a:ext>
            </a:extLst>
          </p:cNvPr>
          <p:cNvSpPr/>
          <p:nvPr/>
        </p:nvSpPr>
        <p:spPr>
          <a:xfrm>
            <a:off x="403398" y="1302851"/>
            <a:ext cx="1116956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Helvetica Neue"/>
              </a:rPr>
              <a:t>Missing Completely at Random( MCAR): </a:t>
            </a:r>
            <a:endParaRPr lang="en-US" dirty="0"/>
          </a:p>
          <a:p>
            <a:r>
              <a:rPr lang="en-US" dirty="0"/>
              <a:t>The probability of missing data on any attribute does not depend on any value of attribute. 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M</a:t>
            </a:r>
            <a:r>
              <a:rPr lang="en-US" dirty="0"/>
              <a:t>issing data points are a random subset of the data. There is nothing systematic going on that makes some data more likely to be missing than other.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00"/>
                </a:solidFill>
                <a:latin typeface="Helvetica Neue"/>
              </a:rPr>
              <a:t>Missing at random (MAR) : </a:t>
            </a:r>
            <a:endParaRPr lang="en-US" dirty="0"/>
          </a:p>
          <a:p>
            <a:r>
              <a:rPr lang="en-US" dirty="0"/>
              <a:t>The probability an observation being missing depends only on available information (other variables in the dataset).</a:t>
            </a:r>
          </a:p>
          <a:p>
            <a:endParaRPr lang="en-US" b="1" dirty="0">
              <a:solidFill>
                <a:srgbClr val="000000"/>
              </a:solidFill>
              <a:latin typeface="Helvetica Neue"/>
            </a:endParaRPr>
          </a:p>
          <a:p>
            <a:r>
              <a:rPr lang="en-US" b="1" dirty="0"/>
              <a:t>Missing Not at Random, (MNAR):</a:t>
            </a:r>
          </a:p>
          <a:p>
            <a:r>
              <a:rPr lang="en-US" dirty="0"/>
              <a:t>Missing of values is not at random (MNAR) if their being missing depends on information not recorded in the dataset. In other words, there is a mechanism or a reason why missing values are introduced in the dataset.</a:t>
            </a:r>
            <a:endParaRPr lang="en-US" b="1" dirty="0"/>
          </a:p>
          <a:p>
            <a:endParaRPr lang="en-US" b="1" dirty="0">
              <a:solidFill>
                <a:srgbClr val="000000"/>
              </a:solidFill>
              <a:latin typeface="Helvetica Neue"/>
            </a:endParaRPr>
          </a:p>
          <a:p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8603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9861486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Numeric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52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6D75A-55CB-40A5-84AC-42E3E4793DDB}"/>
              </a:ext>
            </a:extLst>
          </p:cNvPr>
          <p:cNvSpPr/>
          <p:nvPr/>
        </p:nvSpPr>
        <p:spPr>
          <a:xfrm>
            <a:off x="403398" y="1302851"/>
            <a:ext cx="1116956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There are a lot of different types of numerical data, example: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percentages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endParaRPr lang="en-US" dirty="0"/>
          </a:p>
          <a:p>
            <a:r>
              <a:rPr lang="en-US" b="1" dirty="0"/>
              <a:t>Numeric Features are about: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Scale: the range of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Distribution: the probability of taking on a particular value</a:t>
            </a:r>
          </a:p>
          <a:p>
            <a:endParaRPr lang="en-US" dirty="0"/>
          </a:p>
          <a:p>
            <a:endParaRPr lang="en-US" dirty="0"/>
          </a:p>
          <a:p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781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9861486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Dealing with count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52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6D75A-55CB-40A5-84AC-42E3E4793DDB}"/>
              </a:ext>
            </a:extLst>
          </p:cNvPr>
          <p:cNvSpPr/>
          <p:nvPr/>
        </p:nvSpPr>
        <p:spPr>
          <a:xfrm>
            <a:off x="403398" y="1302851"/>
            <a:ext cx="1116956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Binarization</a:t>
            </a:r>
            <a:endParaRPr lang="en-US" dirty="0"/>
          </a:p>
          <a:p>
            <a:r>
              <a:rPr lang="en-US" dirty="0"/>
              <a:t>The core of quantitative feature binarization is to set a threshold. The value greater than the threshold is 1 and the value less than or equal to the threshold is 0. </a:t>
            </a:r>
          </a:p>
          <a:p>
            <a:endParaRPr lang="en-US" b="1" dirty="0"/>
          </a:p>
          <a:p>
            <a:r>
              <a:rPr lang="en-US" b="1" dirty="0"/>
              <a:t>Ex. </a:t>
            </a:r>
            <a:r>
              <a:rPr lang="en-US" dirty="0"/>
              <a:t>If you are only care about a student is passed or not , you need to convert the quantitative test score into “1” and “0”.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Quantization or Binning </a:t>
            </a:r>
          </a:p>
          <a:p>
            <a:r>
              <a:rPr lang="en-US" dirty="0"/>
              <a:t>You have a numerical feature but you want to convert it into a categorical one. </a:t>
            </a:r>
            <a:r>
              <a:rPr lang="en-US" b="1" dirty="0"/>
              <a:t>Binning </a:t>
            </a:r>
            <a:r>
              <a:rPr lang="en-US" dirty="0"/>
              <a:t>(also called </a:t>
            </a:r>
            <a:r>
              <a:rPr lang="en-US" b="1" dirty="0"/>
              <a:t>bucketing</a:t>
            </a:r>
            <a:r>
              <a:rPr lang="en-US" dirty="0"/>
              <a:t>) is</a:t>
            </a:r>
          </a:p>
          <a:p>
            <a:r>
              <a:rPr lang="en-US" dirty="0"/>
              <a:t>the process of converting a continuous feature into multiple binary features called bins or buckets, typically based on value range. </a:t>
            </a:r>
            <a:r>
              <a:rPr lang="en-US" b="1" dirty="0"/>
              <a:t>Binning helps solve the skewness problem.</a:t>
            </a:r>
            <a:endParaRPr lang="en-US" dirty="0"/>
          </a:p>
          <a:p>
            <a:r>
              <a:rPr lang="en-US" dirty="0"/>
              <a:t>Types : Fixed width binning, quantile binning</a:t>
            </a:r>
          </a:p>
          <a:p>
            <a:endParaRPr lang="en-US" dirty="0"/>
          </a:p>
          <a:p>
            <a:r>
              <a:rPr lang="en-US" b="1" dirty="0"/>
              <a:t>Ex- </a:t>
            </a:r>
            <a:r>
              <a:rPr lang="en-US" dirty="0"/>
              <a:t>Age grouping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65804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9861486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Feature Scaling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52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6D75A-55CB-40A5-84AC-42E3E4793DDB}"/>
              </a:ext>
            </a:extLst>
          </p:cNvPr>
          <p:cNvSpPr/>
          <p:nvPr/>
        </p:nvSpPr>
        <p:spPr>
          <a:xfrm>
            <a:off x="403398" y="1302851"/>
            <a:ext cx="11169567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Two common scaling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Normalization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Standardization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Some algorithms may not perform efficiently when the numerical features have different scales (e.g. KNN, </a:t>
            </a:r>
            <a:r>
              <a:rPr lang="en-US" dirty="0" err="1"/>
              <a:t>KMeans</a:t>
            </a:r>
            <a:r>
              <a:rPr lang="en-US" dirty="0"/>
              <a:t> Clustering, PCA...)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Scaling helps provide better mathematical properties in some algorithms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Feature scaling always divides the feature by a constant. And it does not change the distribution of your data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11751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9861486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Standard Scaling (Standardization)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52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6D75A-55CB-40A5-84AC-42E3E4793DDB}"/>
              </a:ext>
            </a:extLst>
          </p:cNvPr>
          <p:cNvSpPr/>
          <p:nvPr/>
        </p:nvSpPr>
        <p:spPr>
          <a:xfrm>
            <a:off x="403398" y="1302851"/>
            <a:ext cx="1116956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Features are scaled with a </a:t>
            </a:r>
            <a:r>
              <a:rPr lang="en-US" b="1" dirty="0"/>
              <a:t>mean of 0 </a:t>
            </a:r>
            <a:r>
              <a:rPr lang="en-US" dirty="0"/>
              <a:t>and </a:t>
            </a:r>
            <a:r>
              <a:rPr lang="en-US" b="1" dirty="0" err="1"/>
              <a:t>std</a:t>
            </a:r>
            <a:r>
              <a:rPr lang="en-US" b="1" dirty="0"/>
              <a:t> of 1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Useful when comparing measurements with different units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Useful when your model is sensitive to magnitude</a:t>
            </a:r>
          </a:p>
          <a:p>
            <a:r>
              <a:rPr lang="en-US" dirty="0"/>
              <a:t>	EX:PCA : We’re interested in the components that maximize the </a:t>
            </a:r>
            <a:r>
              <a:rPr lang="en-US" b="1" dirty="0"/>
              <a:t>variance</a:t>
            </a:r>
          </a:p>
          <a:p>
            <a:endParaRPr lang="en-US" b="1" dirty="0"/>
          </a:p>
          <a:p>
            <a:r>
              <a:rPr lang="en-US" b="1" dirty="0"/>
              <a:t>	X - mean/ </a:t>
            </a:r>
            <a:r>
              <a:rPr lang="en-US" b="1" dirty="0" err="1"/>
              <a:t>sd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84103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9861486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Normalization (Min/Max Scaling)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52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6D75A-55CB-40A5-84AC-42E3E4793DDB}"/>
              </a:ext>
            </a:extLst>
          </p:cNvPr>
          <p:cNvSpPr/>
          <p:nvPr/>
        </p:nvSpPr>
        <p:spPr>
          <a:xfrm>
            <a:off x="403398" y="1302851"/>
            <a:ext cx="1116956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Features are scaled from 0-1 or any other fixed range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Ends up with smaller standard deviations</a:t>
            </a:r>
          </a:p>
          <a:p>
            <a:r>
              <a:rPr lang="en-US" b="1" dirty="0"/>
              <a:t>Example</a:t>
            </a:r>
            <a:r>
              <a:rPr lang="en-US" dirty="0"/>
              <a:t>: Image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When you want to normalize the pixel intensity to 0-255 (RGB</a:t>
            </a:r>
          </a:p>
          <a:p>
            <a:r>
              <a:rPr lang="en-US" dirty="0"/>
              <a:t>color range)</a:t>
            </a:r>
          </a:p>
          <a:p>
            <a:endParaRPr lang="en-US" dirty="0"/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Formula : (X – min(X))/ (max(X) – min(X))</a:t>
            </a:r>
          </a:p>
        </p:txBody>
      </p:sp>
    </p:spTree>
    <p:extLst>
      <p:ext uri="{BB962C8B-B14F-4D97-AF65-F5344CB8AC3E}">
        <p14:creationId xmlns:p14="http://schemas.microsoft.com/office/powerpoint/2010/main" val="1283860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1025" y="334672"/>
            <a:ext cx="8491797" cy="4869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Encoding Categorical Variables</a:t>
            </a:r>
            <a:endParaRPr lang="en-US" sz="53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D4E0A-E1E1-4986-A1B5-C31EFD113636}"/>
              </a:ext>
            </a:extLst>
          </p:cNvPr>
          <p:cNvSpPr/>
          <p:nvPr/>
        </p:nvSpPr>
        <p:spPr>
          <a:xfrm>
            <a:off x="611097" y="1126245"/>
            <a:ext cx="108060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Encoding Categorical Variables</a:t>
            </a:r>
          </a:p>
          <a:p>
            <a:r>
              <a:rPr lang="en-US" b="1" dirty="0"/>
              <a:t>Two Common Approaches:</a:t>
            </a:r>
          </a:p>
          <a:p>
            <a:r>
              <a:rPr lang="en-US" b="1" dirty="0"/>
              <a:t>1. Label Encoding - </a:t>
            </a:r>
            <a:r>
              <a:rPr lang="en-US" dirty="0"/>
              <a:t>Each category are labeled as ordered integers</a:t>
            </a:r>
          </a:p>
          <a:p>
            <a:r>
              <a:rPr lang="en-US" b="1" dirty="0"/>
              <a:t>2. One Hot Encoding / Dummy Encoding - </a:t>
            </a:r>
            <a:r>
              <a:rPr lang="en-US" dirty="0"/>
              <a:t>Transform</a:t>
            </a:r>
          </a:p>
          <a:p>
            <a:r>
              <a:rPr lang="en-US" dirty="0"/>
              <a:t>categories into individual binary feature (0 or 1) features lying in different ranges.</a:t>
            </a: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37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07504" y="1428737"/>
            <a:ext cx="6853583" cy="704119"/>
          </a:xfrm>
        </p:spPr>
        <p:txBody>
          <a:bodyPr>
            <a:normAutofit fontScale="90000"/>
          </a:bodyPr>
          <a:lstStyle/>
          <a:p>
            <a:r>
              <a:rPr lang="en-US"/>
              <a:t>Demo on Feature </a:t>
            </a:r>
            <a:r>
              <a:rPr lang="en-US" dirty="0"/>
              <a:t>Engineering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3058" y="1251015"/>
            <a:ext cx="11237824" cy="5137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what is FE and importance of FE</a:t>
            </a:r>
          </a:p>
          <a:p>
            <a:pPr marL="457200" indent="-457200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Data Types</a:t>
            </a:r>
          </a:p>
          <a:p>
            <a:pPr marL="457200" indent="-457200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Missing data problem</a:t>
            </a:r>
          </a:p>
          <a:p>
            <a:pPr marL="457200" indent="-457200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Numeric Feature Engineering</a:t>
            </a:r>
          </a:p>
          <a:p>
            <a:pPr marL="457200" indent="-457200">
              <a:spcAft>
                <a:spcPts val="898"/>
              </a:spcAft>
              <a:buFont typeface="Arial" panose="020B0604020202020204" pitchFamily="34" charset="0"/>
              <a:buChar char="•"/>
            </a:pPr>
            <a:r>
              <a:rPr lang="en-US" sz="2798" dirty="0">
                <a:solidFill>
                  <a:srgbClr val="000000"/>
                </a:solidFill>
                <a:latin typeface="Arial" panose="020B0604020202020204" pitchFamily="34" charset="0"/>
              </a:rPr>
              <a:t>Feature scaling and categorical encoding</a:t>
            </a:r>
          </a:p>
          <a:p>
            <a:pPr marL="457200" indent="-457200">
              <a:spcAft>
                <a:spcPts val="898"/>
              </a:spcAft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>
              <a:spcAft>
                <a:spcPts val="898"/>
              </a:spcAft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Aft>
                <a:spcPts val="898"/>
              </a:spcAft>
            </a:pPr>
            <a:endParaRPr lang="en-US" sz="2798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Aft>
                <a:spcPts val="898"/>
              </a:spcAft>
            </a:pPr>
            <a:r>
              <a:rPr lang="en-US" sz="4400" dirty="0">
                <a:solidFill>
                  <a:schemeClr val="accent1"/>
                </a:solidFill>
                <a:latin typeface="Arial" panose="020B0604020202020204" pitchFamily="34" charset="0"/>
              </a:rPr>
              <a:t>Q &amp; 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024" y="556185"/>
            <a:ext cx="10854544" cy="56245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defTabSz="576012"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96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419400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98" dirty="0"/>
              <a:t>Help Us Grow The Community</a:t>
            </a:r>
            <a:endParaRPr lang="en-IN" sz="3198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999"/>
              </a:spcBef>
              <a:buNone/>
            </a:pPr>
            <a:r>
              <a:rPr lang="en-US" sz="3597" dirty="0">
                <a:hlinkClick r:id="rId2"/>
              </a:rPr>
              <a:t>www.facebook.com/groups/theSQLGeeks</a:t>
            </a:r>
            <a:endParaRPr lang="en-US" sz="3597" dirty="0"/>
          </a:p>
          <a:p>
            <a:pPr marL="0" indent="0">
              <a:spcBef>
                <a:spcPts val="999"/>
              </a:spcBef>
              <a:buNone/>
            </a:pPr>
            <a:endParaRPr lang="en-IN" sz="2798" dirty="0">
              <a:solidFill>
                <a:schemeClr val="tx1"/>
              </a:solidFill>
            </a:endParaRPr>
          </a:p>
          <a:p>
            <a:pPr marL="0" indent="0">
              <a:spcBef>
                <a:spcPts val="999"/>
              </a:spcBef>
              <a:buNone/>
            </a:pPr>
            <a:r>
              <a:rPr lang="en-IN" sz="2798" dirty="0">
                <a:solidFill>
                  <a:schemeClr val="tx1"/>
                </a:solidFill>
              </a:rPr>
              <a:t>We are posting today’s group pic in our FB Group.</a:t>
            </a:r>
          </a:p>
          <a:p>
            <a:pPr marL="0" indent="0">
              <a:spcBef>
                <a:spcPts val="999"/>
              </a:spcBef>
              <a:buNone/>
            </a:pPr>
            <a:endParaRPr lang="en-IN" sz="2798" dirty="0">
              <a:solidFill>
                <a:schemeClr val="tx1"/>
              </a:solidFill>
            </a:endParaRPr>
          </a:p>
          <a:p>
            <a:pPr marL="0" indent="0">
              <a:spcBef>
                <a:spcPts val="999"/>
              </a:spcBef>
              <a:buNone/>
            </a:pPr>
            <a:r>
              <a:rPr lang="en-IN" sz="2798" dirty="0">
                <a:solidFill>
                  <a:schemeClr val="tx1"/>
                </a:solidFill>
              </a:rPr>
              <a:t>Share it on your wall and post comments. Let your friends know that you joined today’s session and it was worth your time. Invite them to </a:t>
            </a:r>
            <a:r>
              <a:rPr lang="en-IN" sz="2798" dirty="0">
                <a:solidFill>
                  <a:schemeClr val="tx1"/>
                </a:solidFill>
                <a:hlinkClick r:id="rId3"/>
              </a:rPr>
              <a:t>www.DataPlatformGeeks.com</a:t>
            </a:r>
            <a:r>
              <a:rPr lang="en-IN" sz="2798" dirty="0">
                <a:solidFill>
                  <a:schemeClr val="tx1"/>
                </a:solidFill>
              </a:rPr>
              <a:t> so that they too can benefit. We all </a:t>
            </a:r>
            <a:r>
              <a:rPr lang="en-IN" sz="2798">
                <a:solidFill>
                  <a:schemeClr val="tx1"/>
                </a:solidFill>
              </a:rPr>
              <a:t>grow together.</a:t>
            </a:r>
            <a:endParaRPr lang="en-IN" sz="2798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69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0"/>
    </mc:Choice>
    <mc:Fallback xmlns="">
      <p:transition spd="slow" advClick="0" advTm="20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DataPlatformGeeks</a:t>
            </a:r>
            <a:r>
              <a:rPr lang="en-US" dirty="0"/>
              <a:t> (DPG) Community</a:t>
            </a:r>
            <a:br>
              <a:rPr lang="en-US" dirty="0"/>
            </a:br>
            <a:r>
              <a:rPr lang="en-US" sz="2398" dirty="0"/>
              <a:t>Join the fastest growing community of data &amp; analytics professionals</a:t>
            </a:r>
            <a:endParaRPr lang="en-IN" sz="2798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203" y="1600201"/>
            <a:ext cx="10965657" cy="506915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398" b="1" dirty="0">
                <a:solidFill>
                  <a:schemeClr val="tx1"/>
                </a:solidFill>
              </a:rPr>
              <a:t>Why Join DPG?</a:t>
            </a:r>
            <a:endParaRPr lang="en-IN" sz="1999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999" dirty="0">
                <a:solidFill>
                  <a:schemeClr val="tx1"/>
                </a:solidFill>
              </a:rPr>
              <a:t>Attend all events hosted by DPG, including SQLMaestros Special Events</a:t>
            </a:r>
          </a:p>
          <a:p>
            <a:pPr>
              <a:lnSpc>
                <a:spcPct val="150000"/>
              </a:lnSpc>
            </a:pPr>
            <a:r>
              <a:rPr lang="en-IN" sz="1999" dirty="0">
                <a:solidFill>
                  <a:schemeClr val="tx1"/>
                </a:solidFill>
              </a:rPr>
              <a:t>Get access to free videos, labs, magazines and host of learning resources</a:t>
            </a:r>
          </a:p>
          <a:p>
            <a:pPr>
              <a:lnSpc>
                <a:spcPct val="150000"/>
              </a:lnSpc>
            </a:pPr>
            <a:r>
              <a:rPr lang="en-IN" sz="1999" dirty="0">
                <a:solidFill>
                  <a:schemeClr val="tx1"/>
                </a:solidFill>
              </a:rPr>
              <a:t>Download all events &amp; conference material</a:t>
            </a:r>
          </a:p>
          <a:p>
            <a:pPr>
              <a:lnSpc>
                <a:spcPct val="150000"/>
              </a:lnSpc>
            </a:pPr>
            <a:r>
              <a:rPr lang="en-IN" sz="1999" dirty="0">
                <a:solidFill>
                  <a:schemeClr val="tx1"/>
                </a:solidFill>
              </a:rPr>
              <a:t>Learn new skills. Sharpen existing skills</a:t>
            </a:r>
          </a:p>
          <a:p>
            <a:pPr>
              <a:lnSpc>
                <a:spcPct val="150000"/>
              </a:lnSpc>
            </a:pPr>
            <a:r>
              <a:rPr lang="en-IN" sz="1999" dirty="0">
                <a:solidFill>
                  <a:schemeClr val="tx1"/>
                </a:solidFill>
              </a:rPr>
              <a:t>Be part of Asia’s Largest Data/Analytics Community</a:t>
            </a:r>
          </a:p>
          <a:p>
            <a:pPr>
              <a:lnSpc>
                <a:spcPct val="150000"/>
              </a:lnSpc>
            </a:pPr>
            <a:r>
              <a:rPr lang="en-IN" sz="1999" dirty="0">
                <a:solidFill>
                  <a:schemeClr val="tx1"/>
                </a:solidFill>
              </a:rPr>
              <a:t>Opportunity to be a regional mentor &amp; speaker at our events</a:t>
            </a:r>
          </a:p>
          <a:p>
            <a:pPr>
              <a:lnSpc>
                <a:spcPct val="150000"/>
              </a:lnSpc>
            </a:pPr>
            <a:r>
              <a:rPr lang="en-IN" sz="1999" dirty="0">
                <a:solidFill>
                  <a:schemeClr val="tx1"/>
                </a:solidFill>
              </a:rPr>
              <a:t>Immense technical &amp; professional development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999" dirty="0">
                <a:solidFill>
                  <a:schemeClr val="tx1"/>
                </a:solidFill>
                <a:hlinkClick r:id="rId2"/>
              </a:rPr>
              <a:t>www.DataPlatformGeeks.com</a:t>
            </a:r>
            <a:endParaRPr lang="en-IN" sz="1999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999" dirty="0">
                <a:solidFill>
                  <a:schemeClr val="tx1"/>
                </a:solidFill>
                <a:hlinkClick r:id="rId3"/>
              </a:rPr>
              <a:t>www.SQLServerGeeks.com</a:t>
            </a:r>
            <a:endParaRPr lang="en-IN" sz="1999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999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999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65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0"/>
    </mc:Choice>
    <mc:Fallback xmlns="">
      <p:transition spd="slow" advClick="0" advTm="20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2798" dirty="0"/>
          </a:p>
        </p:txBody>
      </p:sp>
      <p:pic>
        <p:nvPicPr>
          <p:cNvPr id="9" name="Picture 9" descr="A group of people posing for the camera&#10;&#10;Description generated with very high confidence">
            <a:extLst>
              <a:ext uri="{FF2B5EF4-FFF2-40B4-BE49-F238E27FC236}">
                <a16:creationId xmlns:a16="http://schemas.microsoft.com/office/drawing/2014/main" id="{F8E9C4A3-56D1-448C-8C11-0F41CAC2E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35" y="4314"/>
            <a:ext cx="7436285" cy="6984491"/>
          </a:xfrm>
          <a:prstGeom prst="rect">
            <a:avLst/>
          </a:prstGeom>
        </p:spPr>
      </p:pic>
      <p:pic>
        <p:nvPicPr>
          <p:cNvPr id="15" name="Picture 15" descr="A person looking at the camera&#10;&#10;Description generated with very high confidence">
            <a:extLst>
              <a:ext uri="{FF2B5EF4-FFF2-40B4-BE49-F238E27FC236}">
                <a16:creationId xmlns:a16="http://schemas.microsoft.com/office/drawing/2014/main" id="{B4D7E348-B960-4E6E-A479-2713313A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706" y="3912708"/>
            <a:ext cx="2258619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2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0"/>
    </mc:Choice>
    <mc:Fallback xmlns="">
      <p:transition spd="slow" advClick="0" advTm="20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98" dirty="0"/>
              <a:t>Have Questions?</a:t>
            </a:r>
            <a:endParaRPr lang="en-IN" sz="3198" dirty="0"/>
          </a:p>
        </p:txBody>
      </p:sp>
      <p:pic>
        <p:nvPicPr>
          <p:cNvPr id="6" name="Picture 6" descr="A picture containing animal&#10;&#10;Description generated with high confidence">
            <a:extLst>
              <a:ext uri="{FF2B5EF4-FFF2-40B4-BE49-F238E27FC236}">
                <a16:creationId xmlns:a16="http://schemas.microsoft.com/office/drawing/2014/main" id="{65D82EA9-47EB-4996-9105-00472D480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723" y="1600201"/>
            <a:ext cx="1086061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6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0"/>
    </mc:Choice>
    <mc:Fallback xmlns="">
      <p:transition spd="slow" advClick="0" advTm="20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893" y="5343986"/>
            <a:ext cx="4125189" cy="15256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IN" sz="1400" b="0" i="0" kern="12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hlinkClick r:id="rId2"/>
              </a:rPr>
              <a:t>facebook.com/SQLServerGeeks</a:t>
            </a:r>
            <a:endParaRPr lang="en-IN" sz="1400" b="0" i="0" kern="12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lnSpc>
                <a:spcPts val="2000"/>
              </a:lnSpc>
            </a:pPr>
            <a:r>
              <a:rPr lang="en-IN" sz="1400" b="0" i="0" kern="12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hlinkClick r:id="rId3"/>
              </a:rPr>
              <a:t>facebook.com/groups/</a:t>
            </a:r>
            <a:r>
              <a:rPr lang="en-IN" sz="1400" b="0" i="0" kern="12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hlinkClick r:id="rId3"/>
              </a:rPr>
              <a:t>theSQLGeeks</a:t>
            </a:r>
            <a:endParaRPr lang="en-IN" sz="1400" b="0" i="0" kern="12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lnSpc>
                <a:spcPts val="2000"/>
              </a:lnSpc>
            </a:pPr>
            <a:endParaRPr lang="en-IN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IN" sz="1400" b="1">
                <a:latin typeface="Segoe UI" pitchFamily="34" charset="0"/>
                <a:cs typeface="Segoe UI" pitchFamily="34" charset="0"/>
              </a:rPr>
              <a:t>Join The Community on Mobile</a:t>
            </a:r>
            <a:br>
              <a:rPr lang="en-IN" sz="1400" b="1" dirty="0">
                <a:latin typeface="Segoe UI" pitchFamily="34" charset="0"/>
                <a:cs typeface="Segoe UI" pitchFamily="34" charset="0"/>
              </a:rPr>
            </a:br>
            <a:r>
              <a:rPr lang="en-IN" sz="14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N" sz="1400" dirty="0">
                <a:latin typeface="Segoe UI" pitchFamily="34" charset="0"/>
                <a:cs typeface="Segoe UI" pitchFamily="34" charset="0"/>
                <a:hlinkClick r:id="rId4"/>
              </a:rPr>
              <a:t>http://www.dataplatformgeeks.com/dpg-mobile/</a:t>
            </a:r>
            <a:endParaRPr lang="en-IN"/>
          </a:p>
          <a:p>
            <a:pPr>
              <a:lnSpc>
                <a:spcPts val="2000"/>
              </a:lnSpc>
            </a:pPr>
            <a:endParaRPr lang="en-IN" sz="1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CFBED-14F8-4211-8CAD-AB3FB9593819}"/>
              </a:ext>
            </a:extLst>
          </p:cNvPr>
          <p:cNvSpPr txBox="1"/>
          <p:nvPr/>
        </p:nvSpPr>
        <p:spPr>
          <a:xfrm>
            <a:off x="458885" y="4811552"/>
            <a:ext cx="43051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Segoe UI" pitchFamily="34" charset="0"/>
                <a:ea typeface="Segoe UI" pitchFamily="34" charset="0"/>
                <a:cs typeface="Segoe UI" pitchFamily="34" charset="0"/>
                <a:hlinkClick r:id="rId5"/>
              </a:rPr>
              <a:t>@SQLServerGeeks</a:t>
            </a:r>
            <a:r>
              <a:rPr lang="en-US" sz="1350" dirty="0">
                <a:latin typeface="Segoe UI" pitchFamily="34" charset="0"/>
                <a:ea typeface="Segoe UI" pitchFamily="34" charset="0"/>
                <a:cs typeface="Segoe UI" pitchFamily="34" charset="0"/>
              </a:rPr>
              <a:t>  |  </a:t>
            </a:r>
            <a:r>
              <a:rPr lang="en-US" sz="1350" dirty="0">
                <a:latin typeface="Segoe UI" pitchFamily="34" charset="0"/>
                <a:ea typeface="Segoe UI" pitchFamily="34" charset="0"/>
                <a:cs typeface="Segoe UI" pitchFamily="34" charset="0"/>
                <a:hlinkClick r:id="rId6"/>
              </a:rPr>
              <a:t>admin@DataPlatformGeeks.com</a:t>
            </a:r>
            <a:endParaRPr lang="en-IN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A490F-FF5C-4C27-8095-DCDB04F92F7D}"/>
              </a:ext>
            </a:extLst>
          </p:cNvPr>
          <p:cNvSpPr txBox="1"/>
          <p:nvPr/>
        </p:nvSpPr>
        <p:spPr>
          <a:xfrm>
            <a:off x="458885" y="3900932"/>
            <a:ext cx="3508333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b="0" i="0" kern="1200" dirty="0">
                <a:solidFill>
                  <a:schemeClr val="tx1"/>
                </a:solidFill>
                <a:effectLst/>
                <a:latin typeface="Narkisim" pitchFamily="34" charset="-79"/>
                <a:ea typeface="+mn-ea"/>
                <a:cs typeface="Narkisim" pitchFamily="34" charset="-79"/>
                <a:hlinkClick r:id="rId7"/>
              </a:rPr>
              <a:t>www.DataPlatformGeeks.com</a:t>
            </a:r>
            <a:endParaRPr lang="en-US" sz="1950" dirty="0">
              <a:latin typeface="Narkisim" pitchFamily="34" charset="-79"/>
              <a:cs typeface="Narkisim" pitchFamily="34" charset="-79"/>
            </a:endParaRPr>
          </a:p>
          <a:p>
            <a:r>
              <a:rPr lang="en-US" sz="1950" b="0" i="0" kern="1200" dirty="0">
                <a:solidFill>
                  <a:schemeClr val="tx1"/>
                </a:solidFill>
                <a:effectLst/>
                <a:latin typeface="Narkisim" pitchFamily="34" charset="-79"/>
                <a:ea typeface="+mn-ea"/>
                <a:cs typeface="Narkisim" pitchFamily="34" charset="-79"/>
                <a:hlinkClick r:id="rId8"/>
              </a:rPr>
              <a:t>www.SQLServerGeeks.com</a:t>
            </a:r>
            <a:r>
              <a:rPr lang="en-US" sz="1950" b="0" i="0" kern="1200" dirty="0">
                <a:solidFill>
                  <a:schemeClr val="tx1"/>
                </a:solidFill>
                <a:effectLst/>
                <a:latin typeface="Narkisim" pitchFamily="34" charset="-79"/>
                <a:ea typeface="+mn-ea"/>
                <a:cs typeface="Narkisim" pitchFamily="34" charset="-79"/>
              </a:rPr>
              <a:t> </a:t>
            </a:r>
            <a:endParaRPr lang="en-IN" sz="1950" b="0" dirty="0">
              <a:latin typeface="Narkisim" pitchFamily="34" charset="-79"/>
              <a:ea typeface="Segoe UI" pitchFamily="34" charset="0"/>
              <a:cs typeface="Narkisim" pitchFamily="34" charset="-79"/>
            </a:endParaRPr>
          </a:p>
        </p:txBody>
      </p:sp>
      <p:pic>
        <p:nvPicPr>
          <p:cNvPr id="6" name="Picture 2" descr="https://cdn1.iconfinder.com/data/icons/iconza-circle-social/64/697029-twitter-512.png">
            <a:extLst>
              <a:ext uri="{FF2B5EF4-FFF2-40B4-BE49-F238E27FC236}">
                <a16:creationId xmlns:a16="http://schemas.microsoft.com/office/drawing/2014/main" id="{A9CB9114-AB67-4ABA-9A15-989131377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724" y="4659863"/>
            <a:ext cx="303377" cy="303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733B3A-4D9F-4446-BCE4-9B43BB343FCD}"/>
              </a:ext>
            </a:extLst>
          </p:cNvPr>
          <p:cNvSpPr txBox="1"/>
          <p:nvPr/>
        </p:nvSpPr>
        <p:spPr>
          <a:xfrm>
            <a:off x="458885" y="2198084"/>
            <a:ext cx="5848589" cy="181588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  <a:hlinkClick r:id="rId5"/>
              </a:rPr>
              <a:t>@SQLServerGeeks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</a:p>
          <a:p>
            <a:endParaRPr lang="en-US" sz="2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800" dirty="0">
                <a:latin typeface="Segoe UI" pitchFamily="34" charset="0"/>
                <a:cs typeface="Segoe UI" pitchFamily="34" charset="0"/>
                <a:hlinkClick r:id="rId10"/>
              </a:rPr>
              <a:t>www.YouTube.com/SQLServerGeeks</a:t>
            </a:r>
            <a:endParaRPr lang="en-US"/>
          </a:p>
          <a:p>
            <a:endParaRPr lang="en-US" sz="28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2" descr="https://cdn1.iconfinder.com/data/icons/iconza-circle-social/64/697029-twitter-512.png">
            <a:extLst>
              <a:ext uri="{FF2B5EF4-FFF2-40B4-BE49-F238E27FC236}">
                <a16:creationId xmlns:a16="http://schemas.microsoft.com/office/drawing/2014/main" id="{FA45DB9D-8F88-4B59-9F05-C1BE9F1DC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727" y="2060848"/>
            <a:ext cx="485925" cy="4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QLServerGeeks-Summi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00000"/>
      </a:accent1>
      <a:accent2>
        <a:srgbClr val="0070C0"/>
      </a:accent2>
      <a:accent3>
        <a:srgbClr val="FC8604"/>
      </a:accent3>
      <a:accent4>
        <a:srgbClr val="92CDDC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1958</TotalTime>
  <Words>1211</Words>
  <Application>Microsoft Office PowerPoint</Application>
  <PresentationFormat>Custom</PresentationFormat>
  <Paragraphs>171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Arial-BoldMT</vt:lpstr>
      <vt:lpstr>ArialMT</vt:lpstr>
      <vt:lpstr>Calibri</vt:lpstr>
      <vt:lpstr>Consolas</vt:lpstr>
      <vt:lpstr>Helvetica Neue</vt:lpstr>
      <vt:lpstr>Narkisim</vt:lpstr>
      <vt:lpstr>Segoe UI</vt:lpstr>
      <vt:lpstr>Wingdings</vt:lpstr>
      <vt:lpstr>Office Theme</vt:lpstr>
      <vt:lpstr>Feature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on Feature Engineering</vt:lpstr>
      <vt:lpstr>PowerPoint Presentation</vt:lpstr>
      <vt:lpstr>Help Us Grow The Community</vt:lpstr>
      <vt:lpstr>DataPlatformGeeks (DPG) Community Join the fastest growing community of data &amp; analytics professionals</vt:lpstr>
      <vt:lpstr>PowerPoint Presentation</vt:lpstr>
      <vt:lpstr>Have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user_1</dc:creator>
  <cp:lastModifiedBy>Sandip Pani</cp:lastModifiedBy>
  <cp:revision>111</cp:revision>
  <dcterms:created xsi:type="dcterms:W3CDTF">2015-07-09T13:59:10Z</dcterms:created>
  <dcterms:modified xsi:type="dcterms:W3CDTF">2019-02-02T10:37:33Z</dcterms:modified>
</cp:coreProperties>
</file>